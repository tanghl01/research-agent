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8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687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 15 秒：只讲项目名、定位和种子期状态。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秒：痛点不要抽象成大模型问题，而是落在专业任务的发现、执行、验证、复用四个环节。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秒：讲平台边界。Operator 不自研通用 agent loop，而是做能力目录、运行时接入、技能源和产物协议。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秒：展示工作台操作流。重点讲不是聊天框换皮，而是以任务和能力为中心的生产界面。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秒：讲架构可信度。强调当前代码中已有能力目录、skill manifest、前端能力标签、artifact 管线，不讲成已经商业化完备。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秒：这页讲差异化。把用户补充的两项特色说成内测期重点建设的增长和分发引擎，避免过度承诺。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秒：不虚构 TAM 数字。种子期比赛更重要的是切入点、早期用户和扩展路径。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秒：团队页只讲人和能力组合。强调陈智鹏负责智能体系统和垂直落地，王小刚补充云边智能、任务编排和协同执行，学生小队负责原型与工程验证。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秒：用这张图说明教育/论文类垂直智能体不仅是生成内容，还需要审核、追踪、反馈和质量数据闭环。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秒：用硬件设计界面说明 Operator 要支持的不是泛聊天，而是专业软件、工程参数、仿真检查和可交付产物。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秒：说明当前是什么、内测在验证什么、90 天内要形成什么。商业模式保持简单。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秒：最后一页只讲诉求和联系方式。网址二维码编码完整网址 https://baozizhineng.com/，扫码后可直接打开项目网站。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931920" y="594360"/>
            <a:ext cx="54864" cy="54864"/>
          </a:xfrm>
          <a:prstGeom prst="ellipse">
            <a:avLst/>
          </a:prstGeom>
          <a:solidFill>
            <a:srgbClr val="F5A524">
              <a:alpha val="92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675888" y="621792"/>
            <a:ext cx="512064" cy="201168"/>
          </a:xfrm>
          <a:prstGeom prst="line">
            <a:avLst/>
          </a:prstGeom>
          <a:noFill/>
          <a:ln w="5715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550408" y="1426464"/>
            <a:ext cx="68580" cy="68580"/>
          </a:xfrm>
          <a:prstGeom prst="ellipse">
            <a:avLst/>
          </a:prstGeom>
          <a:solidFill>
            <a:srgbClr val="1FD6A5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168896" y="2258568"/>
            <a:ext cx="82296" cy="82296"/>
          </a:xfrm>
          <a:prstGeom prst="ellipse">
            <a:avLst/>
          </a:prstGeom>
          <a:solidFill>
            <a:srgbClr val="17B7C8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787384" y="3090672"/>
            <a:ext cx="54864" cy="54864"/>
          </a:xfrm>
          <a:prstGeom prst="ellipse">
            <a:avLst/>
          </a:prstGeom>
          <a:solidFill>
            <a:srgbClr val="1FD6A5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0405872" y="3922776"/>
            <a:ext cx="68580" cy="68580"/>
          </a:xfrm>
          <a:prstGeom prst="ellipse">
            <a:avLst/>
          </a:prstGeom>
          <a:solidFill>
            <a:srgbClr val="17B7C8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0149840" y="3950208"/>
            <a:ext cx="512064" cy="201168"/>
          </a:xfrm>
          <a:prstGeom prst="line">
            <a:avLst/>
          </a:prstGeom>
          <a:noFill/>
          <a:ln w="5715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343400" y="4754880"/>
            <a:ext cx="82296" cy="82296"/>
          </a:xfrm>
          <a:prstGeom prst="ellipse">
            <a:avLst/>
          </a:prstGeom>
          <a:solidFill>
            <a:srgbClr val="F5A524">
              <a:alpha val="92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961888" y="5586984"/>
            <a:ext cx="54864" cy="54864"/>
          </a:xfrm>
          <a:prstGeom prst="ellipse">
            <a:avLst/>
          </a:prstGeom>
          <a:solidFill>
            <a:srgbClr val="17B7C8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580376" y="1024128"/>
            <a:ext cx="68580" cy="68580"/>
          </a:xfrm>
          <a:prstGeom prst="ellipse">
            <a:avLst/>
          </a:prstGeom>
          <a:solidFill>
            <a:srgbClr val="1FD6A5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198864" y="1856232"/>
            <a:ext cx="82296" cy="82296"/>
          </a:xfrm>
          <a:prstGeom prst="ellipse">
            <a:avLst/>
          </a:prstGeom>
          <a:solidFill>
            <a:srgbClr val="17B7C8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942832" y="1883664"/>
            <a:ext cx="512064" cy="201168"/>
          </a:xfrm>
          <a:prstGeom prst="line">
            <a:avLst/>
          </a:prstGeom>
          <a:noFill/>
          <a:ln w="5715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0817352" y="2688336"/>
            <a:ext cx="54864" cy="54864"/>
          </a:xfrm>
          <a:prstGeom prst="ellipse">
            <a:avLst/>
          </a:prstGeom>
          <a:solidFill>
            <a:srgbClr val="1FD6A5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754880" y="3520440"/>
            <a:ext cx="68580" cy="68580"/>
          </a:xfrm>
          <a:prstGeom prst="ellipse">
            <a:avLst/>
          </a:prstGeom>
          <a:solidFill>
            <a:srgbClr val="F5A524">
              <a:alpha val="92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373368" y="4352544"/>
            <a:ext cx="82296" cy="82296"/>
          </a:xfrm>
          <a:prstGeom prst="ellipse">
            <a:avLst/>
          </a:prstGeom>
          <a:solidFill>
            <a:srgbClr val="1FD6A5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991856" y="5184648"/>
            <a:ext cx="54864" cy="54864"/>
          </a:xfrm>
          <a:prstGeom prst="ellipse">
            <a:avLst/>
          </a:prstGeom>
          <a:solidFill>
            <a:srgbClr val="17B7C8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735824" y="5212080"/>
            <a:ext cx="512064" cy="201168"/>
          </a:xfrm>
          <a:prstGeom prst="line">
            <a:avLst/>
          </a:prstGeom>
          <a:noFill/>
          <a:ln w="5715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9610344" y="621792"/>
            <a:ext cx="68580" cy="68580"/>
          </a:xfrm>
          <a:prstGeom prst="ellipse">
            <a:avLst/>
          </a:prstGeom>
          <a:solidFill>
            <a:srgbClr val="1FD6A5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1228832" y="1453896"/>
            <a:ext cx="82296" cy="82296"/>
          </a:xfrm>
          <a:prstGeom prst="ellipse">
            <a:avLst/>
          </a:prstGeom>
          <a:solidFill>
            <a:srgbClr val="17B7C8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166360" y="2286000"/>
            <a:ext cx="54864" cy="54864"/>
          </a:xfrm>
          <a:prstGeom prst="ellipse">
            <a:avLst/>
          </a:prstGeom>
          <a:solidFill>
            <a:srgbClr val="F5A524">
              <a:alpha val="92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784848" y="3118104"/>
            <a:ext cx="68580" cy="68580"/>
          </a:xfrm>
          <a:prstGeom prst="ellipse">
            <a:avLst/>
          </a:prstGeom>
          <a:solidFill>
            <a:srgbClr val="17B7C8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528816" y="3145536"/>
            <a:ext cx="512064" cy="201168"/>
          </a:xfrm>
          <a:prstGeom prst="line">
            <a:avLst/>
          </a:prstGeom>
          <a:noFill/>
          <a:ln w="5715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403336" y="3950208"/>
            <a:ext cx="82296" cy="82296"/>
          </a:xfrm>
          <a:prstGeom prst="ellipse">
            <a:avLst/>
          </a:prstGeom>
          <a:solidFill>
            <a:srgbClr val="1FD6A5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10021824" y="4782312"/>
            <a:ext cx="54864" cy="54864"/>
          </a:xfrm>
          <a:prstGeom prst="ellipse">
            <a:avLst/>
          </a:prstGeom>
          <a:solidFill>
            <a:srgbClr val="17B7C8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3959352" y="5614416"/>
            <a:ext cx="68580" cy="68580"/>
          </a:xfrm>
          <a:prstGeom prst="ellipse">
            <a:avLst/>
          </a:prstGeom>
          <a:solidFill>
            <a:srgbClr val="1FD6A5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577840" y="1051560"/>
            <a:ext cx="82296" cy="82296"/>
          </a:xfrm>
          <a:prstGeom prst="ellipse">
            <a:avLst/>
          </a:prstGeom>
          <a:solidFill>
            <a:srgbClr val="F5A524">
              <a:alpha val="92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321808" y="1078992"/>
            <a:ext cx="512064" cy="201168"/>
          </a:xfrm>
          <a:prstGeom prst="line">
            <a:avLst/>
          </a:prstGeom>
          <a:noFill/>
          <a:ln w="5715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7196328" y="1883664"/>
            <a:ext cx="54864" cy="54864"/>
          </a:xfrm>
          <a:prstGeom prst="ellipse">
            <a:avLst/>
          </a:prstGeom>
          <a:solidFill>
            <a:srgbClr val="1FD6A5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814816" y="2715768"/>
            <a:ext cx="68580" cy="68580"/>
          </a:xfrm>
          <a:prstGeom prst="ellipse">
            <a:avLst/>
          </a:prstGeom>
          <a:solidFill>
            <a:srgbClr val="17B7C8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0433304" y="3547872"/>
            <a:ext cx="82296" cy="82296"/>
          </a:xfrm>
          <a:prstGeom prst="ellipse">
            <a:avLst/>
          </a:prstGeom>
          <a:solidFill>
            <a:srgbClr val="1FD6A5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4370832" y="4379976"/>
            <a:ext cx="54864" cy="54864"/>
          </a:xfrm>
          <a:prstGeom prst="ellipse">
            <a:avLst/>
          </a:prstGeom>
          <a:solidFill>
            <a:srgbClr val="17B7C8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114800" y="4407408"/>
            <a:ext cx="512064" cy="201168"/>
          </a:xfrm>
          <a:prstGeom prst="line">
            <a:avLst/>
          </a:prstGeom>
          <a:noFill/>
          <a:ln w="5715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989320" y="5212080"/>
            <a:ext cx="68580" cy="68580"/>
          </a:xfrm>
          <a:prstGeom prst="ellipse">
            <a:avLst/>
          </a:prstGeom>
          <a:solidFill>
            <a:srgbClr val="F5A524">
              <a:alpha val="92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7607808" y="649224"/>
            <a:ext cx="82296" cy="82296"/>
          </a:xfrm>
          <a:prstGeom prst="ellipse">
            <a:avLst/>
          </a:prstGeom>
          <a:solidFill>
            <a:srgbClr val="17B7C8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9226296" y="1481328"/>
            <a:ext cx="54864" cy="54864"/>
          </a:xfrm>
          <a:prstGeom prst="ellipse">
            <a:avLst/>
          </a:prstGeom>
          <a:solidFill>
            <a:srgbClr val="1FD6A5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0844784" y="2313432"/>
            <a:ext cx="68580" cy="68580"/>
          </a:xfrm>
          <a:prstGeom prst="ellipse">
            <a:avLst/>
          </a:prstGeom>
          <a:solidFill>
            <a:srgbClr val="17B7C8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0588752" y="2340864"/>
            <a:ext cx="512064" cy="201168"/>
          </a:xfrm>
          <a:prstGeom prst="line">
            <a:avLst/>
          </a:prstGeom>
          <a:noFill/>
          <a:ln w="5715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4782312" y="3145536"/>
            <a:ext cx="82296" cy="82296"/>
          </a:xfrm>
          <a:prstGeom prst="ellipse">
            <a:avLst/>
          </a:prstGeom>
          <a:solidFill>
            <a:srgbClr val="1FD6A5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400800" y="3977640"/>
            <a:ext cx="54864" cy="54864"/>
          </a:xfrm>
          <a:prstGeom prst="ellipse">
            <a:avLst/>
          </a:prstGeom>
          <a:solidFill>
            <a:srgbClr val="F5A524">
              <a:alpha val="92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019288" y="4809744"/>
            <a:ext cx="68580" cy="68580"/>
          </a:xfrm>
          <a:prstGeom prst="ellipse">
            <a:avLst/>
          </a:prstGeom>
          <a:solidFill>
            <a:srgbClr val="1FD6A5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9637776" y="5641848"/>
            <a:ext cx="82296" cy="82296"/>
          </a:xfrm>
          <a:prstGeom prst="ellipse">
            <a:avLst/>
          </a:prstGeom>
          <a:solidFill>
            <a:srgbClr val="17B7C8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9381744" y="5669280"/>
            <a:ext cx="512064" cy="201168"/>
          </a:xfrm>
          <a:prstGeom prst="line">
            <a:avLst/>
          </a:prstGeom>
          <a:noFill/>
          <a:ln w="5715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1256264" y="1078992"/>
            <a:ext cx="54864" cy="54864"/>
          </a:xfrm>
          <a:prstGeom prst="ellipse">
            <a:avLst/>
          </a:prstGeom>
          <a:solidFill>
            <a:srgbClr val="1FD6A5">
              <a:alpha val="80000"/>
            </a:srgbClr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566928" y="7863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</a:t>
            </a:r>
            <a:endParaRPr lang="en-US" sz="3600" dirty="0"/>
          </a:p>
        </p:txBody>
      </p:sp>
      <p:sp>
        <p:nvSpPr>
          <p:cNvPr id="48" name="Text 46"/>
          <p:cNvSpPr/>
          <p:nvPr/>
        </p:nvSpPr>
        <p:spPr>
          <a:xfrm>
            <a:off x="2359152" y="9052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D6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03504" y="1627632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让开源 Skill 长成可验证的专业 Agent 工作流</a:t>
            </a:r>
            <a:endParaRPr lang="en-US" sz="2900" dirty="0"/>
          </a:p>
        </p:txBody>
      </p:sp>
      <p:sp>
        <p:nvSpPr>
          <p:cNvPr id="50" name="Text 48"/>
          <p:cNvSpPr/>
          <p:nvPr/>
        </p:nvSpPr>
        <p:spPr>
          <a:xfrm>
            <a:off x="621792" y="312724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B8D8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Linux 专业执行平台 · GitHub Skill Marketplace · Artifact Verification</a:t>
            </a:r>
            <a:endParaRPr lang="en-US" sz="1320" dirty="0"/>
          </a:p>
        </p:txBody>
      </p:sp>
      <p:sp>
        <p:nvSpPr>
          <p:cNvPr id="51" name="Shape 49"/>
          <p:cNvSpPr/>
          <p:nvPr/>
        </p:nvSpPr>
        <p:spPr>
          <a:xfrm>
            <a:off x="621792" y="3858768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102B30"/>
          </a:solidFill>
          <a:ln w="10160">
            <a:solidFill>
              <a:srgbClr val="1FD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731520" y="391820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D6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种子期 / 开发内测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40280" y="3858768"/>
            <a:ext cx="1261872" cy="292608"/>
          </a:xfrm>
          <a:prstGeom prst="roundRect">
            <a:avLst>
              <a:gd name="adj" fmla="val 25000"/>
            </a:avLst>
          </a:prstGeom>
          <a:solidFill>
            <a:srgbClr val="332714"/>
          </a:solidFill>
          <a:ln w="1016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2350008" y="3918204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创业大赛路演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1792" y="5943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120" dirty="0">
                <a:solidFill>
                  <a:srgbClr val="A9BE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专业智能体平台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577840" y="9601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632704" y="1065276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Skill</a:t>
            </a:r>
            <a:endParaRPr lang="en-US" sz="930" dirty="0"/>
          </a:p>
        </p:txBody>
      </p:sp>
      <p:sp>
        <p:nvSpPr>
          <p:cNvPr id="58" name="Shape 56"/>
          <p:cNvSpPr/>
          <p:nvPr/>
        </p:nvSpPr>
        <p:spPr>
          <a:xfrm>
            <a:off x="7205472" y="150876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FD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7260336" y="1613916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</a:t>
            </a:r>
            <a:endParaRPr lang="en-US" sz="930" dirty="0"/>
          </a:p>
        </p:txBody>
      </p:sp>
      <p:sp>
        <p:nvSpPr>
          <p:cNvPr id="60" name="Shape 58"/>
          <p:cNvSpPr/>
          <p:nvPr/>
        </p:nvSpPr>
        <p:spPr>
          <a:xfrm>
            <a:off x="8641080" y="2176272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695944" y="228142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</a:t>
            </a:r>
            <a:endParaRPr lang="en-US" sz="930" dirty="0"/>
          </a:p>
        </p:txBody>
      </p:sp>
      <p:sp>
        <p:nvSpPr>
          <p:cNvPr id="62" name="Shape 60"/>
          <p:cNvSpPr/>
          <p:nvPr/>
        </p:nvSpPr>
        <p:spPr>
          <a:xfrm>
            <a:off x="9875520" y="288036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FD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9930384" y="2985516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Artifact</a:t>
            </a:r>
            <a:endParaRPr lang="en-US" sz="930" dirty="0"/>
          </a:p>
        </p:txBody>
      </p:sp>
      <p:sp>
        <p:nvSpPr>
          <p:cNvPr id="64" name="Shape 62"/>
          <p:cNvSpPr/>
          <p:nvPr/>
        </p:nvSpPr>
        <p:spPr>
          <a:xfrm>
            <a:off x="6720840" y="1143000"/>
            <a:ext cx="640080" cy="438912"/>
          </a:xfrm>
          <a:prstGeom prst="line">
            <a:avLst/>
          </a:prstGeom>
          <a:noFill/>
          <a:ln w="17780">
            <a:solidFill>
              <a:srgbClr val="17B7C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8183880" y="1691640"/>
            <a:ext cx="594360" cy="502920"/>
          </a:xfrm>
          <a:prstGeom prst="line">
            <a:avLst/>
          </a:prstGeom>
          <a:noFill/>
          <a:ln w="17780">
            <a:solidFill>
              <a:srgbClr val="1FD6A5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9528048" y="2359152"/>
            <a:ext cx="530352" cy="512064"/>
          </a:xfrm>
          <a:prstGeom prst="line">
            <a:avLst/>
          </a:prstGeom>
          <a:noFill/>
          <a:ln w="17780">
            <a:solidFill>
              <a:srgbClr val="F5A524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5650992" y="42245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9BE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plane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818120" y="4526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9BE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plane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969264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9BE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plane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D9E8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FD6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17B7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 AI 工作流仍然难以复用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1247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 agent 能聊天，但离稳定交付专业产物还有三道门槛。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1430">
            <a:solidFill>
              <a:srgbClr val="DCE8EF"/>
            </a:solidFill>
            <a:prstDash val="solid"/>
          </a:ln>
          <a:effectLst>
            <a:outerShdw blurRad="7620" dist="12700" dir="2700000" algn="bl" rotWithShape="0">
              <a:srgbClr val="8AA2B2">
                <a:alpha val="11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73152" cy="2880360"/>
          </a:xfrm>
          <a:prstGeom prst="rect">
            <a:avLst/>
          </a:prstGeom>
          <a:solidFill>
            <a:srgbClr val="17B7C8"/>
          </a:solidFill>
          <a:ln w="12700">
            <a:solidFill>
              <a:srgbClr val="17B7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能力散落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2313432"/>
            <a:ext cx="283464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 skill 藏在 GitHub 仓库、个人模板和脚本里，用户很难发现、安装、验证和持续更新。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4480560" y="169164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1430">
            <a:solidFill>
              <a:srgbClr val="DCE8EF"/>
            </a:solidFill>
            <a:prstDash val="solid"/>
          </a:ln>
          <a:effectLst>
            <a:outerShdw blurRad="7620" dist="12700" dir="2700000" algn="bl" rotWithShape="0">
              <a:srgbClr val="8AA2B2">
                <a:alpha val="11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480560" y="1691640"/>
            <a:ext cx="73152" cy="288036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709160" y="18745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执行不可控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709160" y="2313432"/>
            <a:ext cx="283464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同一个任务常常需要浏览器、文件、Python、Office、CAD、LaTeX 等工具；本机环境和 agent 能力边界不稳定。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8275320" y="169164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1430">
            <a:solidFill>
              <a:srgbClr val="DCE8EF"/>
            </a:solidFill>
            <a:prstDash val="solid"/>
          </a:ln>
          <a:effectLst>
            <a:outerShdw blurRad="7620" dist="12700" dir="2700000" algn="bl" rotWithShape="0">
              <a:srgbClr val="8AA2B2">
                <a:alpha val="11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275320" y="1691640"/>
            <a:ext cx="73152" cy="2880360"/>
          </a:xfrm>
          <a:prstGeom prst="rect">
            <a:avLst/>
          </a:prstGeom>
          <a:solidFill>
            <a:srgbClr val="1FD6A5"/>
          </a:solidFill>
          <a:ln w="12700">
            <a:solidFill>
              <a:srgbClr val="1FD6A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503920" y="18745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交付不可审计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503920" y="2313432"/>
            <a:ext cx="283464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只返回文本不够。专业用户需要真实 artifact、运行日志、hash、预览、可追溯来源和可复现路径。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2331720" y="5166360"/>
            <a:ext cx="7498080" cy="0"/>
          </a:xfrm>
          <a:prstGeom prst="line">
            <a:avLst/>
          </a:prstGeom>
          <a:noFill/>
          <a:ln w="1651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417320" y="54864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472184" y="5591556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Discover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3703320" y="548640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758184" y="559155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715000" y="548640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FD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769864" y="559155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7818120" y="548640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872984" y="5591556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Reuse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9829800" y="548640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FD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884664" y="5591556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Share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89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6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17B7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Operator：面向专业任务的 Skill Agent 平台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1247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把开源 skill、外部 agent runtime 和 artifact 交付标准化。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517904"/>
            <a:ext cx="2743200" cy="4800600"/>
          </a:xfrm>
          <a:prstGeom prst="rect">
            <a:avLst/>
          </a:prstGeom>
          <a:solidFill>
            <a:srgbClr val="EAF8F8"/>
          </a:solidFill>
          <a:ln w="12700">
            <a:solidFill>
              <a:srgbClr val="EA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14400" y="17922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6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用户入口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2057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 / 教育 / 法律 / CAD / 工业巡检 / 文档生成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550468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不要求用户懂 runtime、依赖和工具链。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94760" y="1508760"/>
            <a:ext cx="7223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97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794760" y="1508760"/>
            <a:ext cx="128016" cy="841248"/>
          </a:xfrm>
          <a:prstGeom prst="rect">
            <a:avLst/>
          </a:prstGeom>
          <a:solidFill>
            <a:srgbClr val="17B7C8"/>
          </a:solidFill>
          <a:ln w="12700">
            <a:solidFill>
              <a:srgbClr val="17B7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114800" y="16550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 Registry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16642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manifest、source、version、license、output contract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3794760" y="2679192"/>
            <a:ext cx="7223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970">
            <a:solidFill>
              <a:srgbClr val="1FD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794760" y="2679192"/>
            <a:ext cx="128016" cy="841248"/>
          </a:xfrm>
          <a:prstGeom prst="rect">
            <a:avLst/>
          </a:prstGeom>
          <a:solidFill>
            <a:srgbClr val="1FD6A5"/>
          </a:solidFill>
          <a:ln w="12700">
            <a:solidFill>
              <a:srgbClr val="1FD6A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114800" y="28254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Workspace SkillSource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28346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按任务暴露单个 skill 包，避免全目录污染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794760" y="3849624"/>
            <a:ext cx="7223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97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794760" y="3849624"/>
            <a:ext cx="128016" cy="84124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114800" y="39959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ACP Runtime Chain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40050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codex-exec-proxy 默认执行，Codex/Claude/Gemini/OpenHands 可回退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3794760" y="5020056"/>
            <a:ext cx="7223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97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794760" y="5020056"/>
            <a:ext cx="128016" cy="841248"/>
          </a:xfrm>
          <a:prstGeom prst="rect">
            <a:avLst/>
          </a:prstGeom>
          <a:solidFill>
            <a:srgbClr val="17B7C8"/>
          </a:solidFill>
          <a:ln w="12700">
            <a:solidFill>
              <a:srgbClr val="17B7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114800" y="5166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Artifact Protocol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51755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生成物、日志、manifest、预览与下载统一登记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3273552" y="3886200"/>
            <a:ext cx="475488" cy="0"/>
          </a:xfrm>
          <a:prstGeom prst="line">
            <a:avLst/>
          </a:prstGeom>
          <a:noFill/>
          <a:ln w="22860">
            <a:solidFill>
              <a:srgbClr val="17B7C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840480" y="63825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B6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价值：让 agent 能把专业任务真正做完，并留下可验证产物。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89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6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17B7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产品演示：任务工作台 + 能力标签 + 产物交付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1247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用户不再选择模型，而是选择任务能力范围。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6995160" cy="4407408"/>
          </a:xfrm>
          <a:prstGeom prst="roundRect">
            <a:avLst>
              <a:gd name="adj" fmla="val 166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home/biostar/work/operator/docs/ppt/assets/operator-web-dem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627632"/>
            <a:ext cx="6702552" cy="4187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28432" y="1536192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CE8EF"/>
            </a:solidFill>
            <a:prstDash val="solid"/>
          </a:ln>
          <a:effectLst>
            <a:outerShdw blurRad="7620" dist="12700" dir="2700000" algn="bl" rotWithShape="0">
              <a:srgbClr val="8AA2B2">
                <a:alpha val="11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8028432" y="1536192"/>
            <a:ext cx="73152" cy="1143000"/>
          </a:xfrm>
          <a:prstGeom prst="rect">
            <a:avLst/>
          </a:prstGeom>
          <a:solidFill>
            <a:srgbClr val="17B7C8"/>
          </a:solidFill>
          <a:ln w="12700">
            <a:solidFill>
              <a:srgbClr val="17B7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257032" y="1719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能力选择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257032" y="2157984"/>
            <a:ext cx="3063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演示文稿、科研、工程 CAD、法律等标签对应 skill scope，不是简单 prompt。</a:t>
            </a:r>
            <a:endParaRPr lang="en-US" sz="1240" dirty="0"/>
          </a:p>
        </p:txBody>
      </p:sp>
      <p:sp>
        <p:nvSpPr>
          <p:cNvPr id="11" name="Shape 8"/>
          <p:cNvSpPr/>
          <p:nvPr/>
        </p:nvSpPr>
        <p:spPr>
          <a:xfrm>
            <a:off x="8028432" y="2999232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CE8EF"/>
            </a:solidFill>
            <a:prstDash val="solid"/>
          </a:ln>
          <a:effectLst>
            <a:outerShdw blurRad="7620" dist="12700" dir="2700000" algn="bl" rotWithShape="0">
              <a:srgbClr val="8AA2B2">
                <a:alpha val="11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8028432" y="2999232"/>
            <a:ext cx="73152" cy="1143000"/>
          </a:xfrm>
          <a:prstGeom prst="rect">
            <a:avLst/>
          </a:prstGeom>
          <a:solidFill>
            <a:srgbClr val="1FD6A5"/>
          </a:solidFill>
          <a:ln w="12700">
            <a:solidFill>
              <a:srgbClr val="1FD6A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8257032" y="318211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执行反馈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257032" y="3621024"/>
            <a:ext cx="3063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运行状态、已选 skill、步骤开始等事件在前端可见，降低黑箱感。</a:t>
            </a:r>
            <a:endParaRPr lang="en-US" sz="1240" dirty="0"/>
          </a:p>
        </p:txBody>
      </p:sp>
      <p:sp>
        <p:nvSpPr>
          <p:cNvPr id="15" name="Shape 12"/>
          <p:cNvSpPr/>
          <p:nvPr/>
        </p:nvSpPr>
        <p:spPr>
          <a:xfrm>
            <a:off x="8028432" y="4462272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CE8EF"/>
            </a:solidFill>
            <a:prstDash val="solid"/>
          </a:ln>
          <a:effectLst>
            <a:outerShdw blurRad="7620" dist="12700" dir="2700000" algn="bl" rotWithShape="0">
              <a:srgbClr val="8AA2B2">
                <a:alpha val="11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8028432" y="4462272"/>
            <a:ext cx="73152" cy="114300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8257032" y="46451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Artifact 下载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8257032" y="5084064"/>
            <a:ext cx="3063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最终产物以 PPTX、HTML、PDF、CAD 等文件形式交付，可预览、可追溯。</a:t>
            </a:r>
            <a:endParaRPr lang="en-US" sz="1240" dirty="0"/>
          </a:p>
        </p:txBody>
      </p:sp>
      <p:sp>
        <p:nvSpPr>
          <p:cNvPr id="19" name="Text 16"/>
          <p:cNvSpPr/>
          <p:nvPr/>
        </p:nvSpPr>
        <p:spPr>
          <a:xfrm>
            <a:off x="822960" y="6080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GIF 已嵌入 PPT；如果播放环境不支持动画，仍会显示首帧截图。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89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6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17B7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MVP 技术架构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1247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Mastra 做控制面，外部 ACP runtime 做执行，Operator 负责产品化交付。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0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/ API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任务工作台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34640" y="1874520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1FD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953512" y="205740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0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Mastra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2953512" y="240487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capability / tools / workflows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57800" y="1874520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376672" y="205740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0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ACP Runtime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5376672" y="240487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Exec Proxy + fallbacks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818120" y="1874520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936992" y="205740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0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Workspace Skills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7936992" y="240487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SKILL.md / manifests / adapters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12680" y="1874520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1FD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131552" y="205740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0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Artifacts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10131552" y="240487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 / html / pdf / cad / logs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31136" y="2414016"/>
            <a:ext cx="603504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407408" y="2414016"/>
            <a:ext cx="850392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830568" y="2414016"/>
            <a:ext cx="987552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9390888" y="2414016"/>
            <a:ext cx="621792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960120" y="4041648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F5FBFE"/>
          </a:solidFill>
          <a:ln w="11430">
            <a:solidFill>
              <a:srgbClr val="CBEF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234440" y="42976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B7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34440" y="46817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能力目录、skill 解析、权限、任务历史、产物索引。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4041648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FFF8EA"/>
          </a:solidFill>
          <a:ln w="11430">
            <a:solidFill>
              <a:srgbClr val="F6D3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846320" y="42976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B16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执行面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846320" y="46817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 agent runtime、工具调用、文件处理、浏览器与专业软件。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83880" y="4041648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F0FDF7"/>
          </a:solidFill>
          <a:ln w="11430">
            <a:solidFill>
              <a:srgbClr val="BDF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458200" y="42976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6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交付面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458200" y="46817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artifact manifest、预览、hash、下载、审计记录。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601675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已注册：PPT、HTML slides、科研、CAD、法律、生物医学、工业视觉等 skill manifest。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89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6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17B7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两台差异化引擎：发现与分发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1247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B8D8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内测期重点建设的增长机制，让 skill 供给和用户需求互相强化。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7830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101B2B"/>
          </a:solidFill>
          <a:ln w="12700">
            <a:solidFill>
              <a:srgbClr val="2142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51560" y="2057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D6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夜间 GitHub Skill 扫描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87552" y="2770632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42416" y="287578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高星仓库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2560320" y="2944368"/>
            <a:ext cx="484632" cy="0"/>
          </a:xfrm>
          <a:prstGeom prst="line">
            <a:avLst/>
          </a:prstGeom>
          <a:noFill/>
          <a:ln w="12700">
            <a:solidFill>
              <a:srgbClr val="17B7C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227832" y="2770632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282696" y="287578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README/SKILL.md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800600" y="2944368"/>
            <a:ext cx="484632" cy="0"/>
          </a:xfrm>
          <a:prstGeom prst="line">
            <a:avLst/>
          </a:prstGeom>
          <a:noFill/>
          <a:ln w="12700">
            <a:solidFill>
              <a:srgbClr val="F5A524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987552" y="3593592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42416" y="36987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2560320" y="3767328"/>
            <a:ext cx="484632" cy="0"/>
          </a:xfrm>
          <a:prstGeom prst="line">
            <a:avLst/>
          </a:prstGeom>
          <a:noFill/>
          <a:ln w="12700">
            <a:solidFill>
              <a:srgbClr val="17B7C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227832" y="3593592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282696" y="36987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 Test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800600" y="3767328"/>
            <a:ext cx="484632" cy="0"/>
          </a:xfrm>
          <a:prstGeom prst="line">
            <a:avLst/>
          </a:prstGeom>
          <a:noFill/>
          <a:ln w="12700">
            <a:solidFill>
              <a:srgbClr val="F5A524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987552" y="4416552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42416" y="452170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Capability Card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1024128" y="5312664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C8D7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目标：把开源供给从“能搜到”推进到“能安装、能试跑、能交付”。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6355080" y="17830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101B2B"/>
          </a:solidFill>
          <a:ln w="12700">
            <a:solidFill>
              <a:srgbClr val="2142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656832" y="2057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A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Skill 推荐与热搜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75120" y="280720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1FD6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个人</a:t>
            </a:r>
            <a:endParaRPr lang="en-US" sz="3500" dirty="0"/>
          </a:p>
        </p:txBody>
      </p:sp>
      <p:sp>
        <p:nvSpPr>
          <p:cNvPr id="25" name="Text 23"/>
          <p:cNvSpPr/>
          <p:nvPr/>
        </p:nvSpPr>
        <p:spPr>
          <a:xfrm>
            <a:off x="6675120" y="333756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按用户使用频率推荐常用 skill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8887968" y="280720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5A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全站</a:t>
            </a:r>
            <a:endParaRPr lang="en-US" sz="3500" dirty="0"/>
          </a:p>
        </p:txBody>
      </p:sp>
      <p:sp>
        <p:nvSpPr>
          <p:cNvPr id="27" name="Text 25"/>
          <p:cNvSpPr/>
          <p:nvPr/>
        </p:nvSpPr>
        <p:spPr>
          <a:xfrm>
            <a:off x="8887968" y="333756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按全站使用频率推送热搜 skill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7936992" y="3383280"/>
            <a:ext cx="749808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629400" y="4347972"/>
            <a:ext cx="3822192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1430">
            <a:solidFill>
              <a:srgbClr val="BEEC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876288" y="453085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越多人用 -&gt; 越好推荐 -&gt; 越多高质量 skill 被验证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629400" y="5513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8D7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这不是简单商城排序，而是专业任务的能力分发层。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D9E8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FD6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17B7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市场切入：高产物密度的专业场景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1247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先服务“要交付文件”的用户，再沉淀能力市场。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315468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24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78408" y="19751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B7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2313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文档与演示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8408" y="288950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6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 / HTML deck / Word / PDF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978408" y="367588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高频、低门槛、可快速验证交付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4453128" y="1691640"/>
            <a:ext cx="315468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240">
            <a:solidFill>
              <a:srgbClr val="1FD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9751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B7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81728" y="2313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科研与教育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81728" y="288950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6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文献综述 / 数据分析 / 课程材料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4681728" y="367588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创始团队和实验室天然场景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8156448" y="1691640"/>
            <a:ext cx="315468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24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385048" y="19751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A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85048" y="2313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工程与行业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85048" y="288950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6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CAD / 生信 / 法律 / 工业巡检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8385048" y="367588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高价值、强工具链、适合 runtime 复用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1097280" y="5504688"/>
            <a:ext cx="9921240" cy="0"/>
          </a:xfrm>
          <a:prstGeom prst="line">
            <a:avLst/>
          </a:prstGeom>
          <a:noFill/>
          <a:ln w="1524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60120" y="57424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17B7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Wedge</a:t>
            </a:r>
            <a:endParaRPr lang="en-US" sz="3500" dirty="0"/>
          </a:p>
        </p:txBody>
      </p:sp>
      <p:sp>
        <p:nvSpPr>
          <p:cNvPr id="22" name="Text 20"/>
          <p:cNvSpPr/>
          <p:nvPr/>
        </p:nvSpPr>
        <p:spPr>
          <a:xfrm>
            <a:off x="960120" y="62727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 PPT / 文档 / 科研任务获得早期留存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4754880" y="57424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1FD6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Moat</a:t>
            </a:r>
            <a:endParaRPr lang="en-US" sz="3500" dirty="0"/>
          </a:p>
        </p:txBody>
      </p:sp>
      <p:sp>
        <p:nvSpPr>
          <p:cNvPr id="24" name="Text 22"/>
          <p:cNvSpPr/>
          <p:nvPr/>
        </p:nvSpPr>
        <p:spPr>
          <a:xfrm>
            <a:off x="4754880" y="627278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运行时、验证、推荐数据形成复利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8430768" y="57424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5A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3500" dirty="0"/>
          </a:p>
        </p:txBody>
      </p:sp>
      <p:sp>
        <p:nvSpPr>
          <p:cNvPr id="26" name="Text 24"/>
          <p:cNvSpPr/>
          <p:nvPr/>
        </p:nvSpPr>
        <p:spPr>
          <a:xfrm>
            <a:off x="8430768" y="627278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能力市场扩展到更多垂直专业包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89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6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17B7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团队：智能体系统 + 云边智能 + 学生工程小队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1247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团队来自智能体系统、云计算/边缘智能和真实项目工程训练场。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664208"/>
            <a:ext cx="4892040" cy="2331720"/>
          </a:xfrm>
          <a:prstGeom prst="roundRect">
            <a:avLst>
              <a:gd name="adj" fmla="val 3137"/>
            </a:avLst>
          </a:prstGeom>
          <a:solidFill>
            <a:srgbClr val="F7FAFC"/>
          </a:solidFill>
          <a:ln w="1397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05840" y="1920240"/>
            <a:ext cx="129844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889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/home/biostar/work/operator/docs/ppt/assets/chen-zhipe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1993392"/>
            <a:ext cx="768096" cy="11521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32888" y="1920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陈智鹏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532888" y="22860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0B6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 · 硕士生导师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2532888" y="267004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通用智能体系统、科研自动化 AI4S/AI4M、企业垂直智能体研发。主持上海市优青、横向课题 10 余项。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2532888" y="3438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· AI4S · 垂直智能体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6007608" y="1664208"/>
            <a:ext cx="4892040" cy="2331720"/>
          </a:xfrm>
          <a:prstGeom prst="roundRect">
            <a:avLst>
              <a:gd name="adj" fmla="val 3137"/>
            </a:avLst>
          </a:prstGeom>
          <a:solidFill>
            <a:srgbClr val="F7FAFC"/>
          </a:solidFill>
          <a:ln w="1397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6263640" y="1920240"/>
            <a:ext cx="129844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889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1" descr="/home/biostar/work/operator/docs/ppt/assets/wang-xiaoga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597" y="1993392"/>
            <a:ext cx="1076535" cy="11521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90688" y="1920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王小刚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790688" y="22860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B16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 · 教授 · 硕士生导师</a:t>
            </a:r>
            <a:endParaRPr lang="en-US" sz="1220" dirty="0"/>
          </a:p>
        </p:txBody>
      </p:sp>
      <p:sp>
        <p:nvSpPr>
          <p:cNvPr id="17" name="Text 13"/>
          <p:cNvSpPr/>
          <p:nvPr/>
        </p:nvSpPr>
        <p:spPr>
          <a:xfrm>
            <a:off x="7790688" y="267004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云计算和边缘智能系统；围绕分布式智能体资源调度、任务编排与协同执行机制开展研究。</a:t>
            </a:r>
            <a:endParaRPr lang="en-US" sz="1120" dirty="0"/>
          </a:p>
        </p:txBody>
      </p:sp>
      <p:sp>
        <p:nvSpPr>
          <p:cNvPr id="18" name="Text 14"/>
          <p:cNvSpPr/>
          <p:nvPr/>
        </p:nvSpPr>
        <p:spPr>
          <a:xfrm>
            <a:off x="7790688" y="3438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 AI · 分布式智能体 · 任务编排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749808" y="4315968"/>
            <a:ext cx="10149840" cy="1325880"/>
          </a:xfrm>
          <a:prstGeom prst="roundRect">
            <a:avLst>
              <a:gd name="adj" fmla="val 5517"/>
            </a:avLst>
          </a:prstGeom>
          <a:solidFill>
            <a:srgbClr val="0B1220"/>
          </a:solidFill>
          <a:ln w="12700">
            <a:solidFill>
              <a:srgbClr val="2142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/>
          <p:nvPr/>
        </p:nvSpPr>
        <p:spPr>
          <a:xfrm>
            <a:off x="1060704" y="46451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D6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学生工程小队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2816352" y="4553712"/>
            <a:ext cx="566928" cy="566928"/>
          </a:xfrm>
          <a:prstGeom prst="ellipse">
            <a:avLst/>
          </a:prstGeom>
          <a:solidFill>
            <a:srgbClr val="1FD6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2990088" y="470916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2706624" y="519379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唐浩伦</a:t>
            </a:r>
            <a:endParaRPr lang="en-US" sz="1120" dirty="0"/>
          </a:p>
        </p:txBody>
      </p:sp>
      <p:sp>
        <p:nvSpPr>
          <p:cNvPr id="24" name="Shape 20"/>
          <p:cNvSpPr/>
          <p:nvPr/>
        </p:nvSpPr>
        <p:spPr>
          <a:xfrm>
            <a:off x="4297680" y="4553712"/>
            <a:ext cx="566928" cy="566928"/>
          </a:xfrm>
          <a:prstGeom prst="ellipse">
            <a:avLst/>
          </a:prstGeom>
          <a:solidFill>
            <a:srgbClr val="17B7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1"/>
          <p:cNvSpPr/>
          <p:nvPr/>
        </p:nvSpPr>
        <p:spPr>
          <a:xfrm>
            <a:off x="4471416" y="470916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詹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187952" y="519379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詹静怡</a:t>
            </a:r>
            <a:endParaRPr lang="en-US" sz="1120" dirty="0"/>
          </a:p>
        </p:txBody>
      </p:sp>
      <p:sp>
        <p:nvSpPr>
          <p:cNvPr id="27" name="Shape 23"/>
          <p:cNvSpPr/>
          <p:nvPr/>
        </p:nvSpPr>
        <p:spPr>
          <a:xfrm>
            <a:off x="5779008" y="4553712"/>
            <a:ext cx="566928" cy="566928"/>
          </a:xfrm>
          <a:prstGeom prst="ellipse">
            <a:avLst/>
          </a:prstGeom>
          <a:solidFill>
            <a:srgbClr val="1FD6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4"/>
          <p:cNvSpPr/>
          <p:nvPr/>
        </p:nvSpPr>
        <p:spPr>
          <a:xfrm>
            <a:off x="5952744" y="470916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5669280" y="519379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王琪盛</a:t>
            </a:r>
            <a:endParaRPr lang="en-US" sz="1120" dirty="0"/>
          </a:p>
        </p:txBody>
      </p:sp>
      <p:sp>
        <p:nvSpPr>
          <p:cNvPr id="30" name="Shape 26"/>
          <p:cNvSpPr/>
          <p:nvPr/>
        </p:nvSpPr>
        <p:spPr>
          <a:xfrm>
            <a:off x="7260336" y="4553712"/>
            <a:ext cx="566928" cy="566928"/>
          </a:xfrm>
          <a:prstGeom prst="ellipse">
            <a:avLst/>
          </a:prstGeom>
          <a:solidFill>
            <a:srgbClr val="17B7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7"/>
          <p:cNvSpPr/>
          <p:nvPr/>
        </p:nvSpPr>
        <p:spPr>
          <a:xfrm>
            <a:off x="7434072" y="470916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谭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7150608" y="519379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谭茉曦</a:t>
            </a:r>
            <a:endParaRPr lang="en-US" sz="1120" dirty="0"/>
          </a:p>
        </p:txBody>
      </p:sp>
      <p:sp>
        <p:nvSpPr>
          <p:cNvPr id="33" name="Shape 29"/>
          <p:cNvSpPr/>
          <p:nvPr/>
        </p:nvSpPr>
        <p:spPr>
          <a:xfrm>
            <a:off x="8741664" y="4553712"/>
            <a:ext cx="566928" cy="566928"/>
          </a:xfrm>
          <a:prstGeom prst="ellipse">
            <a:avLst/>
          </a:prstGeom>
          <a:solidFill>
            <a:srgbClr val="1FD6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0"/>
          <p:cNvSpPr/>
          <p:nvPr/>
        </p:nvSpPr>
        <p:spPr>
          <a:xfrm>
            <a:off x="8915400" y="470916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8631936" y="519379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陈天乐</a:t>
            </a:r>
            <a:endParaRPr lang="en-US" sz="1120" dirty="0"/>
          </a:p>
        </p:txBody>
      </p:sp>
      <p:sp>
        <p:nvSpPr>
          <p:cNvPr id="36" name="Text 32"/>
          <p:cNvSpPr/>
          <p:nvPr/>
        </p:nvSpPr>
        <p:spPr>
          <a:xfrm>
            <a:off x="1078992" y="59253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参与智能体系统原型、工具调用流程、科研/论文材料处理、安全智能体、AI coding 小应用和体验设计。</a:t>
            </a:r>
            <a:endParaRPr lang="en-US" sz="1320" dirty="0"/>
          </a:p>
        </p:txBody>
      </p:sp>
      <p:sp>
        <p:nvSpPr>
          <p:cNvPr id="37" name="Text 33"/>
          <p:cNvSpPr/>
          <p:nvPr/>
        </p:nvSpPr>
        <p:spPr>
          <a:xfrm>
            <a:off x="8961120" y="635508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团队资料来源：agentslabs.org</a:t>
            </a:r>
            <a:endParaRPr lang="en-US" sz="880" dirty="0"/>
          </a:p>
        </p:txBody>
      </p:sp>
      <p:sp>
        <p:nvSpPr>
          <p:cNvPr id="38" name="Text 34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89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6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17B7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垂直案例：论文 / 教师智能体评估路径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1247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从材料采集、试点审核、过程追踪到成效反馈，体现专业领域需要闭环质量数据。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591056"/>
            <a:ext cx="10771632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1430">
            <a:solidFill>
              <a:srgbClr val="17B7C8"/>
            </a:solidFill>
            <a:prstDash val="solid"/>
          </a:ln>
          <a:effectLst>
            <a:outerShdw blurRad="7620" dist="12700" dir="2700000" algn="bl" rotWithShape="0">
              <a:srgbClr val="8AA2B2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home/biostar/work/operator/docs/ppt/thesis_agent_evaluation_path_labeled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361" y="1691640"/>
            <a:ext cx="6103373" cy="4599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89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6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17B7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垂直案例：硬件设计工作流界面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1247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MakerAI 的 3D 外壳设计为例，专业智能体必须连接参数、仿真、材料、制造和确认动作。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1430">
            <a:solidFill>
              <a:srgbClr val="F5A524"/>
            </a:solidFill>
            <a:prstDash val="solid"/>
          </a:ln>
          <a:effectLst>
            <a:outerShdw blurRad="7620" dist="12700" dir="2700000" algn="bl" rotWithShape="0">
              <a:srgbClr val="8AA2B2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home/biostar/work/operator/docs/ppt/06_详细设计_3D外壳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078" y="1673352"/>
            <a:ext cx="7285939" cy="45537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89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6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17B7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进展、路线图与商业模式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1247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种子期目标：证明专业 skill 可以被稳定发现、执行、交付和复用。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572768"/>
            <a:ext cx="3246120" cy="345643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5875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50976" y="18470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/ 原型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42416" y="237744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前端任务工作台</a:t>
            </a:r>
            <a:endParaRPr lang="en-US" sz="1210" dirty="0"/>
          </a:p>
          <a:p>
            <a:pPr marL="342900" indent="-342900" algn="l"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Capability tags</a:t>
            </a:r>
            <a:endParaRPr lang="en-US" sz="1210" dirty="0"/>
          </a:p>
          <a:p>
            <a:pPr marL="342900" indent="-342900" algn="l"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manifests</a:t>
            </a:r>
            <a:endParaRPr lang="en-US" sz="1210" dirty="0"/>
          </a:p>
          <a:p>
            <a:pPr marL="342900" indent="-342900" algn="l"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ACP runtime chain</a:t>
            </a:r>
            <a:endParaRPr lang="en-US" sz="1210" dirty="0"/>
          </a:p>
          <a:p>
            <a:pPr marL="342900" indent="-342900" algn="l"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Artifact manifest</a:t>
            </a:r>
            <a:endParaRPr lang="en-US" sz="1210" dirty="0"/>
          </a:p>
        </p:txBody>
      </p:sp>
      <p:sp>
        <p:nvSpPr>
          <p:cNvPr id="8" name="Shape 6"/>
          <p:cNvSpPr/>
          <p:nvPr/>
        </p:nvSpPr>
        <p:spPr>
          <a:xfrm>
            <a:off x="4462272" y="1572768"/>
            <a:ext cx="3246120" cy="345643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5875">
            <a:solidFill>
              <a:srgbClr val="1FD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700016" y="18470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内测中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91456" y="237744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/ HTML slides</a:t>
            </a:r>
            <a:endParaRPr lang="en-US" sz="1210" dirty="0"/>
          </a:p>
          <a:p>
            <a:pPr marL="342900" indent="-342900" algn="l"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 skill collection</a:t>
            </a:r>
            <a:endParaRPr lang="en-US" sz="1210" dirty="0"/>
          </a:p>
          <a:p>
            <a:pPr marL="342900" indent="-342900" algn="l"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CAD skill collection</a:t>
            </a:r>
            <a:endParaRPr lang="en-US" sz="1210" dirty="0"/>
          </a:p>
          <a:p>
            <a:pPr marL="342900" indent="-342900" algn="l"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法律与工业视觉</a:t>
            </a:r>
            <a:endParaRPr lang="en-US" sz="1210" dirty="0"/>
          </a:p>
          <a:p>
            <a:pPr marL="342900" indent="-342900" algn="l"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Codex worker</a:t>
            </a:r>
            <a:endParaRPr lang="en-US" sz="1210" dirty="0"/>
          </a:p>
        </p:txBody>
      </p:sp>
      <p:sp>
        <p:nvSpPr>
          <p:cNvPr id="11" name="Shape 9"/>
          <p:cNvSpPr/>
          <p:nvPr/>
        </p:nvSpPr>
        <p:spPr>
          <a:xfrm>
            <a:off x="8211312" y="1572768"/>
            <a:ext cx="3246120" cy="345643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5875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49056" y="18470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 90 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40496" y="237744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高星扫描</a:t>
            </a:r>
            <a:endParaRPr lang="en-US" sz="1210" dirty="0"/>
          </a:p>
          <a:p>
            <a:pPr marL="342900" indent="-342900" algn="l"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个人/全站推荐</a:t>
            </a:r>
            <a:endParaRPr lang="en-US" sz="1210" dirty="0"/>
          </a:p>
          <a:p>
            <a:pPr marL="342900" indent="-342900" algn="l"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Public beta</a:t>
            </a:r>
            <a:endParaRPr lang="en-US" sz="1210" dirty="0"/>
          </a:p>
          <a:p>
            <a:pPr marL="342900" indent="-342900" algn="l"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组织空间与权限</a:t>
            </a:r>
            <a:endParaRPr lang="en-US" sz="1210" dirty="0"/>
          </a:p>
          <a:p>
            <a:pPr marL="342900" indent="-342900" algn="l"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 skill 试点</a:t>
            </a:r>
            <a:endParaRPr lang="en-US" sz="1210" dirty="0"/>
          </a:p>
        </p:txBody>
      </p:sp>
      <p:sp>
        <p:nvSpPr>
          <p:cNvPr id="14" name="Shape 12"/>
          <p:cNvSpPr/>
          <p:nvPr/>
        </p:nvSpPr>
        <p:spPr>
          <a:xfrm>
            <a:off x="713232" y="5623560"/>
            <a:ext cx="10771632" cy="841248"/>
          </a:xfrm>
          <a:prstGeom prst="rect">
            <a:avLst/>
          </a:prstGeom>
          <a:solidFill>
            <a:srgbClr val="EDF7F6"/>
          </a:solidFill>
          <a:ln w="12700">
            <a:solidFill>
              <a:srgbClr val="EDF7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60120" y="5833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6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993392" y="587044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个人订阅 + 专业 skill 付费 + 企业私有 skill/runtime + Artifact 存储与审计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89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6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2191695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17B7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本轮诉求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49808" y="1408176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C8D7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Operator 从开发内测推进到可持续的专业 Skill Agent 平台。</a:t>
            </a:r>
            <a:endParaRPr lang="en-US" sz="1480" dirty="0"/>
          </a:p>
        </p:txBody>
      </p:sp>
      <p:sp>
        <p:nvSpPr>
          <p:cNvPr id="6" name="Shape 4"/>
          <p:cNvSpPr/>
          <p:nvPr/>
        </p:nvSpPr>
        <p:spPr>
          <a:xfrm>
            <a:off x="786384" y="205740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101B2B"/>
          </a:solidFill>
          <a:ln w="12700">
            <a:solidFill>
              <a:srgbClr val="1FD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60704" y="22219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60" b="1" dirty="0">
                <a:solidFill>
                  <a:srgbClr val="1FD6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专业场景内测</a:t>
            </a:r>
            <a:endParaRPr lang="en-US" sz="1460" dirty="0"/>
          </a:p>
        </p:txBody>
      </p:sp>
      <p:sp>
        <p:nvSpPr>
          <p:cNvPr id="8" name="Text 6"/>
          <p:cNvSpPr/>
          <p:nvPr/>
        </p:nvSpPr>
        <p:spPr>
          <a:xfrm>
            <a:off x="2542032" y="22037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D7E4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寻找 PPT/科研/教育/CAD/法律等真实任务用户，验证稳定交付和留存。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786384" y="306324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101B2B"/>
          </a:solidFill>
          <a:ln w="1270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060704" y="32278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60" b="1" dirty="0">
                <a:solidFill>
                  <a:srgbClr val="17B7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Skill 合作</a:t>
            </a:r>
            <a:endParaRPr lang="en-US" sz="1460" dirty="0"/>
          </a:p>
        </p:txBody>
      </p:sp>
      <p:sp>
        <p:nvSpPr>
          <p:cNvPr id="11" name="Text 9"/>
          <p:cNvSpPr/>
          <p:nvPr/>
        </p:nvSpPr>
        <p:spPr>
          <a:xfrm>
            <a:off x="2542032" y="32095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D7E4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接入高质量 GitHub skill，补充 adapter、runtime、smoke test 与产物契约。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786384" y="406908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101B2B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60704" y="42336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60" b="1" dirty="0">
                <a:solidFill>
                  <a:srgbClr val="F5A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赛事与产业资源</a:t>
            </a:r>
            <a:endParaRPr lang="en-US" sz="1460" dirty="0"/>
          </a:p>
        </p:txBody>
      </p:sp>
      <p:sp>
        <p:nvSpPr>
          <p:cNvPr id="14" name="Text 12"/>
          <p:cNvSpPr/>
          <p:nvPr/>
        </p:nvSpPr>
        <p:spPr>
          <a:xfrm>
            <a:off x="2542032" y="42153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D7E4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需要创业大赛导师反馈、产业场景、算力/云资源与种子期合作机会。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446520" y="1609344"/>
            <a:ext cx="2148840" cy="3913632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240">
            <a:solidFill>
              <a:srgbClr val="1FD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702552" y="1993392"/>
            <a:ext cx="1627632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1FD6A5"/>
            </a:solidFill>
            <a:prstDash val="solid"/>
          </a:ln>
          <a:effectLst>
            <a:outerShdw blurRad="7620" dist="12700" dir="2700000" algn="bl" rotWithShape="0">
              <a:srgbClr val="8AA2B2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0" descr="/home/biostar/work/operator/docs/ppt/assets/wechat-qr-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2093976"/>
            <a:ext cx="1426464" cy="142646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839712" y="440740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微信联系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693408" y="4773168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扫码添加项目联系人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8979408" y="1609344"/>
            <a:ext cx="2148840" cy="3913632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24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9235440" y="1993392"/>
            <a:ext cx="1627632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F5A524"/>
            </a:solidFill>
            <a:prstDash val="solid"/>
          </a:ln>
          <a:effectLst>
            <a:outerShdw blurRad="7620" dist="12700" dir="2700000" algn="bl" rotWithShape="0">
              <a:srgbClr val="8AA2B2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1" descr="/home/biostar/work/operator/docs/ppt/assets/baozizhineng-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2093976"/>
            <a:ext cx="1426464" cy="14264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363456" y="440740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网址二维码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9125712" y="477316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B6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https://baozizhineng.com/</a:t>
            </a:r>
            <a:endParaRPr lang="en-US" sz="960" dirty="0"/>
          </a:p>
        </p:txBody>
      </p:sp>
      <p:sp>
        <p:nvSpPr>
          <p:cNvPr id="25" name="Text 21"/>
          <p:cNvSpPr/>
          <p:nvPr/>
        </p:nvSpPr>
        <p:spPr>
          <a:xfrm>
            <a:off x="804672" y="58338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D6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邮箱：chenzhipeng@sdju.edu.cn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804672" y="626364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9FB3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参考来源：agentslabs.org；YC / NextView / Slidebean；公开 Airbnb / Uber / Coinbase deck。</a:t>
            </a:r>
            <a:endParaRPr lang="en-US" sz="880" dirty="0"/>
          </a:p>
        </p:txBody>
      </p:sp>
      <p:sp>
        <p:nvSpPr>
          <p:cNvPr id="27" name="Text 23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D9E8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FD6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1021</Words>
  <Application>Microsoft Office PowerPoint</Application>
  <PresentationFormat>宽屏</PresentationFormat>
  <Paragraphs>227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Arial</vt:lpstr>
      <vt:lpstr>Trebuchet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Operator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 Seed Pitch Deck</dc:title>
  <dc:subject>Seed-stage startup competition pitch deck</dc:subject>
  <dc:creator>Operator</dc:creator>
  <cp:lastModifiedBy>bill Li</cp:lastModifiedBy>
  <cp:revision>2</cp:revision>
  <dcterms:created xsi:type="dcterms:W3CDTF">2026-06-24T06:59:31Z</dcterms:created>
  <dcterms:modified xsi:type="dcterms:W3CDTF">2026-06-24T13:24:42Z</dcterms:modified>
</cp:coreProperties>
</file>