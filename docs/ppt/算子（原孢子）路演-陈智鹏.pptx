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8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15 秒：只讲项目名、定位和种子期状态。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秒：这一页讲 AI 浪潮的三段演进。第一段是 ChatGPT 让 LLM 成为自然语言入口，第二段是 Claude Code 让 agent 能进入工具链完成任务，第三段也是当前痛点：专业领域的垂直智能体仍缺行业知识、专用工具、过程约束、数据治理和可审计产物闭环。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秒：展示工作台操作流。重点讲不是聊天框换皮，而是以任务和能力为中心的生产界面。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秒：讲架构可信度。强调当前代码中已有能力目录、skill manifest、前端能力标签、artifact 管线，不讲成已经商业化完备。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秒：这页讲差异化。把用户补充的两项特色说成内测期重点建设的增长和分发引擎，避免过度承诺。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秒：团队页只讲人和能力组合。强调陈智鹏负责智能体系统和垂直落地，王小刚补充云边智能、任务编排和协同执行，学生小队负责原型与工程验证。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秒：用这张图说明教育/论文类垂直智能体不仅是生成内容，还需要审核、追踪、反馈和质量数据闭环。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秒：用硬件设计界面说明 Operator 要支持的不是泛聊天，而是专业软件、工程参数、仿真检查和可交付产物。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秒：说明当前是什么、内测在验证什么、90 天内要形成什么。商业模式保持简单。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秒：最后一页只讲诉求和联系方式。网址二维码编码完整网址 https://baozizhineng.com/，扫码后可直接打开项目网站。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GIF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perator-colony-ecosystem-cover-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627" y="0"/>
            <a:ext cx="7571231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102352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0"/>
            <a:ext cx="86868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530352"/>
            <a:ext cx="4041648" cy="5687568"/>
          </a:xfrm>
          <a:prstGeom prst="roundRect">
            <a:avLst/>
          </a:prstGeom>
          <a:solidFill>
            <a:srgbClr val="111F33"/>
          </a:solidFill>
          <a:ln w="10160">
            <a:solidFill>
              <a:srgbClr val="24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1502" y="769909"/>
            <a:ext cx="1327150" cy="527685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lang="zh-CN" altLang="en-US" sz="3200" b="1" dirty="0" err="1">
                <a:solidFill>
                  <a:srgbClr val="1FD6A5"/>
                </a:solidFill>
                <a:latin typeface="微软雅黑" panose="020B0503020204020204" charset="-122"/>
                <a:ea typeface="微软雅黑" panose="020B0503020204020204" charset="-122"/>
              </a:rPr>
              <a:t>算子</a:t>
            </a:r>
            <a:r>
              <a:rPr lang="en-US" altLang="zh-CN" sz="3200" b="1" dirty="0" err="1">
                <a:solidFill>
                  <a:srgbClr val="1FD6A5"/>
                </a:solidFill>
                <a:latin typeface="微软雅黑" panose="020B0503020204020204" charset="-122"/>
              </a:rPr>
              <a:t>AI</a:t>
            </a:r>
            <a:endParaRPr sz="3200" b="1" dirty="0">
              <a:solidFill>
                <a:srgbClr val="1FD6A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039" y="1627632"/>
            <a:ext cx="3792833" cy="48320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lang="zh-CN" altLang="en-US" sz="2900" b="1" dirty="0">
                <a:solidFill>
                  <a:srgbClr val="FFFFFF"/>
                </a:solidFill>
                <a:latin typeface="微软雅黑" panose="020B0503020204020204" charset="-122"/>
              </a:rPr>
              <a:t>云端的垂直智能体平台</a:t>
            </a:r>
            <a:endParaRPr sz="2900" b="1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8096" y="3054096"/>
            <a:ext cx="3465576" cy="4431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20" b="0" dirty="0" err="1">
                <a:solidFill>
                  <a:srgbClr val="B8D8D5"/>
                </a:solidFill>
                <a:latin typeface="微软雅黑" panose="020B0503020204020204" charset="-122"/>
              </a:rPr>
              <a:t>从单个能力算子出发，连接工具、</a:t>
            </a:r>
            <a:r>
              <a:rPr lang="en-US" altLang="zh-CN" sz="1320" b="0" dirty="0" err="1">
                <a:solidFill>
                  <a:srgbClr val="B8D8D5"/>
                </a:solidFill>
                <a:latin typeface="微软雅黑" panose="020B0503020204020204" charset="-122"/>
              </a:rPr>
              <a:t>runtime</a:t>
            </a:r>
            <a:r>
              <a:rPr sz="1320" b="0" dirty="0" err="1">
                <a:solidFill>
                  <a:srgbClr val="B8D8D5"/>
                </a:solidFill>
                <a:latin typeface="微软雅黑" panose="020B0503020204020204" charset="-122"/>
              </a:rPr>
              <a:t>与交付协议，生长为可复用的专业智能体生态</a:t>
            </a:r>
            <a:r>
              <a:rPr sz="1320" b="0" dirty="0">
                <a:solidFill>
                  <a:srgbClr val="B8D8D5"/>
                </a:solidFill>
                <a:latin typeface="微软雅黑" panose="020B0503020204020204" charset="-122"/>
              </a:rPr>
              <a:t>。</a:t>
            </a:r>
            <a:endParaRPr sz="1320" b="0" dirty="0">
              <a:solidFill>
                <a:srgbClr val="B8D8D5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4069080"/>
            <a:ext cx="146304" cy="146304"/>
          </a:xfrm>
          <a:prstGeom prst="ellipse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41648"/>
            <a:ext cx="141732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60" b="1">
                <a:solidFill>
                  <a:srgbClr val="E7F7F6"/>
                </a:solidFill>
                <a:latin typeface="Trebuchet MS" panose="020B0603020202020204"/>
              </a:rPr>
              <a:t>Skill Marketplace</a:t>
            </a:r>
            <a:endParaRPr sz="1060" b="1">
              <a:solidFill>
                <a:srgbClr val="E7F7F6"/>
              </a:solidFill>
              <a:latin typeface="Trebuchet MS" panose="020B0603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05456" y="4041648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8FB7BD"/>
                </a:solidFill>
                <a:latin typeface="微软雅黑" panose="020B0503020204020204" charset="-122"/>
              </a:rPr>
              <a:t>发现能力</a:t>
            </a:r>
            <a:endParaRPr sz="960" b="0">
              <a:solidFill>
                <a:srgbClr val="8FB7BD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4489704"/>
            <a:ext cx="146304" cy="146304"/>
          </a:xfrm>
          <a:prstGeom prst="ellipse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62272"/>
            <a:ext cx="141732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60" b="1">
                <a:solidFill>
                  <a:srgbClr val="E7F7F6"/>
                </a:solidFill>
                <a:latin typeface="Trebuchet MS" panose="020B0603020202020204"/>
              </a:rPr>
              <a:t>Cloud Runtime</a:t>
            </a:r>
            <a:endParaRPr sz="1060" b="1">
              <a:solidFill>
                <a:srgbClr val="E7F7F6"/>
              </a:solidFill>
              <a:latin typeface="Trebuchet MS" panose="020B0603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05456" y="446227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8FB7BD"/>
                </a:solidFill>
                <a:latin typeface="微软雅黑" panose="020B0503020204020204" charset="-122"/>
              </a:rPr>
              <a:t>执行任务</a:t>
            </a:r>
            <a:endParaRPr sz="960" b="0">
              <a:solidFill>
                <a:srgbClr val="8FB7BD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22960" y="4910328"/>
            <a:ext cx="146304" cy="146304"/>
          </a:xfrm>
          <a:prstGeom prst="ellipse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82896"/>
            <a:ext cx="141732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60" b="1">
                <a:solidFill>
                  <a:srgbClr val="E7F7F6"/>
                </a:solidFill>
                <a:latin typeface="Trebuchet MS" panose="020B0603020202020204"/>
              </a:rPr>
              <a:t>Artifact Verification</a:t>
            </a:r>
            <a:endParaRPr sz="1060" b="1">
              <a:solidFill>
                <a:srgbClr val="E7F7F6"/>
              </a:solidFill>
              <a:latin typeface="Trebuchet MS" panose="020B0603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05456" y="4882896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8FB7BD"/>
                </a:solidFill>
                <a:latin typeface="微软雅黑" panose="020B0503020204020204" charset="-122"/>
              </a:rPr>
              <a:t>验证交付</a:t>
            </a:r>
            <a:endParaRPr sz="960" b="0">
              <a:solidFill>
                <a:srgbClr val="8FB7BD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8096" y="5376672"/>
            <a:ext cx="1426464" cy="329184"/>
          </a:xfrm>
          <a:prstGeom prst="roundRect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458968"/>
            <a:ext cx="1353312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60" b="1">
                <a:solidFill>
                  <a:srgbClr val="102B30"/>
                </a:solidFill>
                <a:latin typeface="微软雅黑" panose="020B0503020204020204" charset="-122"/>
              </a:rPr>
              <a:t>种子期 / 开发内测</a:t>
            </a:r>
            <a:endParaRPr sz="1060" b="1">
              <a:solidFill>
                <a:srgbClr val="102B3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340864" y="5376672"/>
            <a:ext cx="1234440" cy="329184"/>
          </a:xfrm>
          <a:prstGeom prst="round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5458968"/>
            <a:ext cx="1161288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60" b="1">
                <a:solidFill>
                  <a:srgbClr val="332714"/>
                </a:solidFill>
                <a:latin typeface="微软雅黑" panose="020B0503020204020204" charset="-122"/>
              </a:rPr>
              <a:t>创业大赛路演</a:t>
            </a:r>
            <a:endParaRPr sz="1060" b="1">
              <a:solidFill>
                <a:srgbClr val="332714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62353" y="5934332"/>
            <a:ext cx="1158240" cy="1816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zh-CN" sz="950" b="0" dirty="0" err="1">
                <a:solidFill>
                  <a:srgbClr val="A9BEC6"/>
                </a:solidFill>
                <a:latin typeface="Trebuchet MS" panose="020B0603020202020204"/>
              </a:rPr>
              <a:t>云端</a:t>
            </a:r>
            <a:r>
              <a:rPr sz="950" b="0" dirty="0" err="1">
                <a:solidFill>
                  <a:srgbClr val="A9BEC6"/>
                </a:solidFill>
                <a:latin typeface="Trebuchet MS" panose="020B0603020202020204"/>
              </a:rPr>
              <a:t>垂直智能体平台</a:t>
            </a:r>
            <a:endParaRPr sz="950" b="0" dirty="0">
              <a:solidFill>
                <a:srgbClr val="A9BEC6"/>
              </a:solidFill>
              <a:latin typeface="Trebuchet MS" panose="020B0603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D9E8E6"/>
                </a:solidFill>
                <a:latin typeface="Trebuchet MS" panose="020B0603020202020204"/>
              </a:rPr>
              <a:t>Operator 算子 | Seed-stage startup competition deck</a:t>
            </a:r>
            <a:endParaRPr sz="750" b="0">
              <a:solidFill>
                <a:srgbClr val="D9E8E6"/>
              </a:solidFill>
              <a:latin typeface="Trebuchet MS" panose="020B0603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71632" y="6473952"/>
            <a:ext cx="8686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750" b="1">
                <a:solidFill>
                  <a:srgbClr val="1FD6A5"/>
                </a:solidFill>
                <a:latin typeface="Trebuchet MS" panose="020B0603020202020204"/>
              </a:rPr>
              <a:t>internal beta</a:t>
            </a:r>
            <a:endParaRPr sz="750" b="1">
              <a:solidFill>
                <a:srgbClr val="1FD6A5"/>
              </a:solidFill>
              <a:latin typeface="Trebuchet MS" panose="020B0603020202020204"/>
            </a:endParaRPr>
          </a:p>
        </p:txBody>
      </p:sp>
      <p:pic>
        <p:nvPicPr>
          <p:cNvPr id="30" name="图片 29" descr="operator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45" y="828040"/>
            <a:ext cx="413385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411480" cy="20116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17B7C8"/>
                </a:solidFill>
                <a:latin typeface="Trebuchet MS" panose="020B0603020202020204"/>
              </a:rPr>
              <a:t>01</a:t>
            </a:r>
            <a:endParaRPr sz="1100" b="1">
              <a:solidFill>
                <a:srgbClr val="17B7C8"/>
              </a:solidFill>
              <a:latin typeface="Trebuchet MS" panose="020B0603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7552" y="475488"/>
            <a:ext cx="7108190" cy="47371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850" b="1">
                <a:solidFill>
                  <a:srgbClr val="0B1220"/>
                </a:solidFill>
                <a:latin typeface="微软雅黑" panose="020B0503020204020204" charset="-122"/>
              </a:rPr>
              <a:t>AI 浪潮：从会聊天，到会干活，再到懂专业</a:t>
            </a:r>
            <a:endParaRPr sz="2850" b="1">
              <a:solidFill>
                <a:srgbClr val="0B1220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987552"/>
            <a:ext cx="9784080" cy="40233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230" b="0">
                <a:solidFill>
                  <a:srgbClr val="64748B"/>
                </a:solidFill>
                <a:latin typeface="微软雅黑" panose="020B0503020204020204" charset="-122"/>
              </a:rPr>
              <a:t>ChatGPT 证明 LLM 是新的自然语言入口；Claude Code 证明 agent 能进入工具链执行任务；下一步的缺口，是专业领域垂直智能体还没有稳定成熟。</a:t>
            </a:r>
            <a:endParaRPr sz="123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60120" y="1874519"/>
            <a:ext cx="9966960" cy="0"/>
          </a:xfrm>
          <a:prstGeom prst="line">
            <a:avLst/>
          </a:prstGeom>
          <a:ln w="63500">
            <a:solidFill>
              <a:srgbClr val="D8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0120" y="1874519"/>
            <a:ext cx="9966960" cy="0"/>
          </a:xfrm>
          <a:prstGeom prst="line">
            <a:avLst/>
          </a:prstGeom>
          <a:ln w="25400">
            <a:solidFill>
              <a:srgbClr val="17B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43000" y="1627632"/>
            <a:ext cx="530352" cy="530352"/>
          </a:xfrm>
          <a:prstGeom prst="ellipse">
            <a:avLst/>
          </a:prstGeom>
          <a:solidFill>
            <a:srgbClr val="17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67712"/>
            <a:ext cx="859536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980" b="1">
                <a:solidFill>
                  <a:srgbClr val="0B6B5E"/>
                </a:solidFill>
                <a:latin typeface="Trebuchet MS" panose="020B0603020202020204"/>
              </a:rPr>
              <a:t>Chat</a:t>
            </a:r>
            <a:endParaRPr sz="980" b="1">
              <a:solidFill>
                <a:srgbClr val="0B6B5E"/>
              </a:solidFill>
              <a:latin typeface="Trebuchet MS" panose="020B0603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56048" y="1627632"/>
            <a:ext cx="530352" cy="530352"/>
          </a:xfrm>
          <a:prstGeom prst="ellipse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2267712"/>
            <a:ext cx="859536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980" b="1">
                <a:solidFill>
                  <a:srgbClr val="0B6B5E"/>
                </a:solidFill>
                <a:latin typeface="Trebuchet MS" panose="020B0603020202020204"/>
              </a:rPr>
              <a:t>Act</a:t>
            </a:r>
            <a:endParaRPr sz="980" b="1">
              <a:solidFill>
                <a:srgbClr val="0B6B5E"/>
              </a:solidFill>
              <a:latin typeface="Trebuchet MS" panose="020B0603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59952" y="1627632"/>
            <a:ext cx="530352" cy="530352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267712"/>
            <a:ext cx="859536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/>
            <a:r>
              <a:rPr sz="980" b="1">
                <a:solidFill>
                  <a:srgbClr val="9A5B00"/>
                </a:solidFill>
                <a:latin typeface="Trebuchet MS" panose="020B0603020202020204"/>
              </a:rPr>
              <a:t>Domain</a:t>
            </a:r>
            <a:endParaRPr sz="980" b="1">
              <a:solidFill>
                <a:srgbClr val="9A5B00"/>
              </a:solidFill>
              <a:latin typeface="Trebuchet MS" panose="020B0603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2633472"/>
            <a:ext cx="3401568" cy="2432304"/>
          </a:xfrm>
          <a:prstGeom prst="roundRect">
            <a:avLst/>
          </a:prstGeom>
          <a:solidFill>
            <a:srgbClr val="F2FBFF"/>
          </a:solidFill>
          <a:ln w="12700">
            <a:solidFill>
              <a:srgbClr val="17B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490" y="3026664"/>
            <a:ext cx="45719" cy="1697736"/>
          </a:xfrm>
          <a:prstGeom prst="rect">
            <a:avLst/>
          </a:prstGeom>
          <a:solidFill>
            <a:srgbClr val="17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Oval 16"/>
          <p:cNvSpPr/>
          <p:nvPr/>
        </p:nvSpPr>
        <p:spPr>
          <a:xfrm>
            <a:off x="914400" y="2907792"/>
            <a:ext cx="566928" cy="566928"/>
          </a:xfrm>
          <a:prstGeom prst="ellipse">
            <a:avLst/>
          </a:prstGeom>
          <a:solidFill>
            <a:srgbClr val="17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30"/>
                </a:solidFill>
                <a:latin typeface="Trebuchet MS" panose="020B0603020202020204"/>
              </a:rPr>
              <a:t>LLM</a:t>
            </a:r>
            <a:endParaRPr sz="1050" b="1">
              <a:solidFill>
                <a:srgbClr val="102B30"/>
              </a:solidFill>
              <a:latin typeface="Trebuchet MS" panose="020B0603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9344" y="2862072"/>
            <a:ext cx="1783080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80" b="1">
                <a:solidFill>
                  <a:srgbClr val="64748B"/>
                </a:solidFill>
                <a:latin typeface="Trebuchet MS" panose="020B0603020202020204"/>
              </a:rPr>
              <a:t>2022-2023  ChatGPT</a:t>
            </a:r>
            <a:endParaRPr sz="980" b="1">
              <a:solidFill>
                <a:srgbClr val="64748B"/>
              </a:solidFill>
              <a:latin typeface="Trebuchet MS" panose="020B0603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9344" y="3136392"/>
            <a:ext cx="2121408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B1220"/>
                </a:solidFill>
                <a:latin typeface="微软雅黑" panose="020B0503020204020204" charset="-122"/>
              </a:rPr>
              <a:t>LLM 会聊天</a:t>
            </a:r>
            <a:endParaRPr sz="1700" b="1">
              <a:solidFill>
                <a:srgbClr val="0B122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7" y="3712463"/>
            <a:ext cx="2670048" cy="8961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自然语言成为 AI 入口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知识问答、内容生成、通用推理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把“能对话的 AI”带到大众面前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15968" y="2633472"/>
            <a:ext cx="3401568" cy="2432304"/>
          </a:xfrm>
          <a:prstGeom prst="roundRect">
            <a:avLst/>
          </a:prstGeom>
          <a:solidFill>
            <a:srgbClr val="F0FFF8"/>
          </a:solidFill>
          <a:ln w="12700">
            <a:solidFill>
              <a:srgbClr val="1F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9342" y="2907792"/>
            <a:ext cx="45719" cy="1816608"/>
          </a:xfrm>
          <a:prstGeom prst="rect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2907792"/>
            <a:ext cx="566928" cy="566928"/>
          </a:xfrm>
          <a:prstGeom prst="ellipse">
            <a:avLst/>
          </a:prstGeom>
          <a:solidFill>
            <a:srgbClr val="1F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02B30"/>
                </a:solidFill>
                <a:latin typeface="Trebuchet MS" panose="020B0603020202020204"/>
              </a:rPr>
              <a:t>CLI</a:t>
            </a:r>
            <a:endParaRPr sz="1050" b="1">
              <a:solidFill>
                <a:srgbClr val="102B30"/>
              </a:solidFill>
              <a:latin typeface="Trebuchet MS" panose="020B0603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66944" y="2862072"/>
            <a:ext cx="1538242" cy="18774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80" b="1" dirty="0">
                <a:solidFill>
                  <a:srgbClr val="64748B"/>
                </a:solidFill>
                <a:latin typeface="Trebuchet MS" panose="020B0603020202020204"/>
              </a:rPr>
              <a:t>202</a:t>
            </a:r>
            <a:r>
              <a:rPr lang="en-US" sz="980" b="1" dirty="0">
                <a:solidFill>
                  <a:srgbClr val="64748B"/>
                </a:solidFill>
                <a:latin typeface="Trebuchet MS" panose="020B0603020202020204"/>
              </a:rPr>
              <a:t>5</a:t>
            </a:r>
            <a:r>
              <a:rPr sz="980" b="1" dirty="0">
                <a:solidFill>
                  <a:srgbClr val="64748B"/>
                </a:solidFill>
                <a:latin typeface="Trebuchet MS" panose="020B0603020202020204"/>
              </a:rPr>
              <a:t>-202</a:t>
            </a:r>
            <a:r>
              <a:rPr lang="en-US" sz="980" b="1" dirty="0">
                <a:solidFill>
                  <a:srgbClr val="64748B"/>
                </a:solidFill>
                <a:latin typeface="Trebuchet MS" panose="020B0603020202020204"/>
              </a:rPr>
              <a:t>6</a:t>
            </a:r>
            <a:r>
              <a:rPr sz="980" b="1" dirty="0">
                <a:solidFill>
                  <a:srgbClr val="64748B"/>
                </a:solidFill>
                <a:latin typeface="Trebuchet MS" panose="020B0603020202020204"/>
              </a:rPr>
              <a:t xml:space="preserve">  Claude Code</a:t>
            </a:r>
            <a:endParaRPr sz="980" b="1" dirty="0">
              <a:solidFill>
                <a:srgbClr val="64748B"/>
              </a:solidFill>
              <a:latin typeface="Trebuchet MS" panose="020B0603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66944" y="3136392"/>
            <a:ext cx="2121408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B1220"/>
                </a:solidFill>
                <a:latin typeface="微软雅黑" panose="020B0503020204020204" charset="-122"/>
              </a:rPr>
              <a:t>Agent 会干活</a:t>
            </a:r>
            <a:endParaRPr sz="1700" b="1">
              <a:solidFill>
                <a:srgbClr val="0B122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36007" y="3712463"/>
            <a:ext cx="2670048" cy="8961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进入代码库和本机工具链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读写文件、调用终端、跑测试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把“能执行的 AI”推进到真实工作流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73568" y="2633472"/>
            <a:ext cx="3401568" cy="2432304"/>
          </a:xfrm>
          <a:prstGeom prst="roundRect">
            <a:avLst/>
          </a:prstGeom>
          <a:solidFill>
            <a:srgbClr val="FFF8EA"/>
          </a:solidFill>
          <a:ln w="127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66942" y="2907792"/>
            <a:ext cx="45719" cy="1862991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0" y="2907792"/>
            <a:ext cx="566928" cy="566928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32714"/>
                </a:solidFill>
                <a:latin typeface="Trebuchet MS" panose="020B0603020202020204"/>
              </a:rPr>
              <a:t>AI</a:t>
            </a:r>
            <a:endParaRPr sz="1050" b="1">
              <a:solidFill>
                <a:srgbClr val="332714"/>
              </a:solidFill>
              <a:latin typeface="Trebuchet MS" panose="020B0603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24544" y="2862072"/>
            <a:ext cx="1783080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980" b="1">
                <a:solidFill>
                  <a:srgbClr val="64748B"/>
                </a:solidFill>
                <a:latin typeface="Trebuchet MS" panose="020B0603020202020204"/>
              </a:rPr>
              <a:t>现在的缺口</a:t>
            </a:r>
            <a:endParaRPr sz="980" b="1">
              <a:solidFill>
                <a:srgbClr val="64748B"/>
              </a:solidFill>
              <a:latin typeface="Trebuchet MS" panose="020B0603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24544" y="3136392"/>
            <a:ext cx="1837690" cy="296545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lang="en-US" altLang="zh-CN" sz="17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sz="17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还干不好专业活</a:t>
            </a:r>
            <a:endParaRPr lang="zh-CN" sz="17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93608" y="3712463"/>
            <a:ext cx="2670048" cy="8961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缺行业知识和场景数据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缺专业工具、权限、合规和审计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80" b="0">
                <a:solidFill>
                  <a:srgbClr val="475569"/>
                </a:solidFill>
                <a:latin typeface="微软雅黑" panose="020B0503020204020204" charset="-122"/>
              </a:rPr>
              <a:t>缺稳定可复用的交付闭环</a:t>
            </a:r>
            <a:endParaRPr sz="108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13232" y="5449824"/>
            <a:ext cx="10771632" cy="786384"/>
          </a:xfrm>
          <a:prstGeom prst="roundRect">
            <a:avLst/>
          </a:prstGeom>
          <a:solidFill>
            <a:srgbClr val="0F1B2D"/>
          </a:solidFill>
          <a:ln w="10160">
            <a:solidFill>
              <a:srgbClr val="21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650992"/>
            <a:ext cx="59436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5A524"/>
                </a:solidFill>
                <a:latin typeface="微软雅黑" panose="020B0503020204020204" charset="-122"/>
              </a:rPr>
              <a:t>痛点</a:t>
            </a:r>
            <a:endParaRPr sz="1300" b="1">
              <a:solidFill>
                <a:srgbClr val="F5A524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9344" y="5650992"/>
            <a:ext cx="736092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专业领域不是“再套一个聊天框”，而是需要行业知识、专用工具、过程约束、数据治理和可审计产物的系统工程。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750" b="0">
                <a:solidFill>
                  <a:srgbClr val="7A8998"/>
                </a:solidFill>
                <a:latin typeface="Trebuchet MS" panose="020B0603020202020204"/>
              </a:rPr>
              <a:t>Operator 算子 | Seed-stage startup competition deck</a:t>
            </a:r>
            <a:endParaRPr sz="750" b="0">
              <a:solidFill>
                <a:srgbClr val="7A8998"/>
              </a:solidFill>
              <a:latin typeface="Trebuchet MS" panose="020B0603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/>
            <a:r>
              <a:rPr sz="750" b="1">
                <a:solidFill>
                  <a:srgbClr val="0B6B5E"/>
                </a:solidFill>
                <a:latin typeface="Trebuchet MS" panose="020B0603020202020204"/>
              </a:rPr>
              <a:t>internal beta</a:t>
            </a:r>
            <a:endParaRPr sz="750" b="1">
              <a:solidFill>
                <a:srgbClr val="0B6B5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算子</a:t>
            </a:r>
            <a:r>
              <a:rPr lang="en-US" altLang="zh-CN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AI</a:t>
            </a: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 xml:space="preserve">：面向专业任务的 </a:t>
            </a: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云端</a:t>
            </a:r>
            <a:r>
              <a:rPr lang="en-US" altLang="zh-CN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-</a:t>
            </a: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垂直智能体</a:t>
            </a: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 xml:space="preserve"> 平台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用户不再选择模型，而是选择任务能力范围。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6995160" cy="4407408"/>
          </a:xfrm>
          <a:prstGeom prst="roundRect">
            <a:avLst>
              <a:gd name="adj" fmla="val 166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projects/operator/docs/ppt/assets/operator-web-demo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6702552" cy="4187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28432" y="153619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8028432" y="1536192"/>
            <a:ext cx="73152" cy="1143000"/>
          </a:xfrm>
          <a:prstGeom prst="rect">
            <a:avLst/>
          </a:prstGeom>
          <a:solidFill>
            <a:srgbClr val="17B7C8"/>
          </a:solidFill>
          <a:ln w="12700">
            <a:solidFill>
              <a:srgbClr val="17B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257032" y="171907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能力选择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57032" y="2157984"/>
            <a:ext cx="306324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演示文稿、科研、工程 CAD、法律等标签对应 skill scope，不是简单 prompt。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8028432" y="299923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028432" y="2999232"/>
            <a:ext cx="73152" cy="1143000"/>
          </a:xfrm>
          <a:prstGeom prst="rect">
            <a:avLst/>
          </a:prstGeom>
          <a:solidFill>
            <a:srgbClr val="1FD6A5"/>
          </a:solidFill>
          <a:ln w="12700">
            <a:solidFill>
              <a:srgbClr val="1FD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257032" y="318211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执行反馈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257032" y="3621024"/>
            <a:ext cx="306324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运行状态、已选 skill、步骤开始等事件在前端可见，降低黑箱感。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8028432" y="4462272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CE8EF"/>
            </a:solidFill>
            <a:prstDash val="solid"/>
          </a:ln>
          <a:effectLst>
            <a:outerShdw blurRad="7620" dist="12700" dir="2700000" algn="bl" rotWithShape="0">
              <a:srgbClr val="8AA2B2">
                <a:alpha val="11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028432" y="4462272"/>
            <a:ext cx="73152" cy="1143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257032" y="464515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Artifact 下载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257032" y="5084064"/>
            <a:ext cx="306324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最终产物以 PPTX、HTML、PDF、CAD 等文件形式交付，可预览、可追溯。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822960" y="60807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GIF 已嵌入 PPT；如果播放环境不支持动画，仍会显示首帧截图。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 MVP 技术架构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Mastra 做控制面，外部 ACP runtime 做执行，Operator 负责产品化交付。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Web / API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Next.js 任务工作台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53512" y="2057400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Mastra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953512" y="2404872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capability / tools / workflows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76672" y="2057400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ACP Runtime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376672" y="2404872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Codex Exec Proxy + fallbacks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36992" y="2057400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Workspace Skills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936992" y="2404872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SKILL.md / manifests / adapters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12680" y="1874520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651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131552" y="2057400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182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Artifacts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131552" y="2404872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pptx / html / pdf / cad / logs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31136" y="2414016"/>
            <a:ext cx="60350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407408" y="2414016"/>
            <a:ext cx="85039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30568" y="2414016"/>
            <a:ext cx="98755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390888" y="2414016"/>
            <a:ext cx="62179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6012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5FBFE"/>
          </a:solidFill>
          <a:ln w="11430">
            <a:solidFill>
              <a:srgbClr val="CBEF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234440" y="429768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B7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控制面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34440" y="468172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能力目录、skill 解析、权限、任务历史、产物索引。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8EA"/>
          </a:solidFill>
          <a:ln w="11430">
            <a:solidFill>
              <a:srgbClr val="F6D3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16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执行面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46320" y="46817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外部 agent runtime、工具调用、文件处理、浏览器与专业软件。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404164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0FDF7"/>
          </a:solidFill>
          <a:ln w="11430">
            <a:solidFill>
              <a:srgbClr val="BDF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58200" y="429768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6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交付面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58200" y="46817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artifact manifest、预览、hash、下载、审计记录。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86130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MVP 已注册：PPT、HTML slides、科研、CAD、法律、生物医学、工业视觉等 skill manifest。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两台差异化引擎：发现与分发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8D8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内测期重点建设的增长机制，让 skill 供给和用户需求互相强化。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01B2B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D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1. 夜间 GitHub Skill 扫描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277063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42416" y="287578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高星仓库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27832" y="277063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82696" y="287578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README/SKILL.md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87552" y="35935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42416" y="369874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Manifest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227832" y="359359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282696" y="369874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Smoke Test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87552" y="441655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2416" y="452170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Capability Card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024128" y="5312664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C8D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目标：把开源供给从“能搜到”推进到“能安装、能试跑、能交付”。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355080" y="17830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01B2B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56832" y="20574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2. Skill 推荐与热搜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807208"/>
            <a:ext cx="132588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FD6A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个人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6702552" y="341071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按用户使用频率</a:t>
            </a:r>
            <a:endParaRPr lang="en-US" sz="122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2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推荐常用</a:t>
            </a:r>
            <a:r>
              <a:rPr lang="en-US" sz="12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 skill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887968" y="2807208"/>
            <a:ext cx="132588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5A52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全站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8919972" y="341071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按全站使用频率推送热搜 skill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720840" y="4333726"/>
            <a:ext cx="382219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1430">
            <a:solidFill>
              <a:srgbClr val="BEEC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967728" y="451660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越多人用 -&gt; 越好推荐 -&gt; 越多高质量 skill 被验证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56832" y="53126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这不是简单商城排序，而是专业任务的能力分发层。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9E8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D6A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团队</a:t>
            </a: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上海电机学院人工智能学院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团队来自智能体系统、云计算/边缘智能和真实项目工程训练场。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7FAFC"/>
          </a:solidFill>
          <a:ln w="1397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home/biostar/work/projects/operator/docs/ppt/assets/chen-zhipe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29384"/>
            <a:ext cx="1114676" cy="16720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32888" y="192024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陈智鹏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32888" y="22860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B6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博士 · 硕士生导师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2532887" y="2670048"/>
            <a:ext cx="2734851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1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从事</a:t>
            </a:r>
            <a:r>
              <a:rPr lang="en-US" sz="112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智能体系统、科研自动化</a:t>
            </a:r>
            <a:r>
              <a:rPr lang="zh-CN" altLang="en-US" sz="11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r>
              <a:rPr lang="en-US" sz="11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AI4S/AI4M研发。主持上海市优青、横向课题 10 </a:t>
            </a:r>
            <a:r>
              <a:rPr lang="en-US" sz="112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余项</a:t>
            </a:r>
            <a:r>
              <a:rPr lang="zh-CN" altLang="en-US" sz="11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，科研经费上百万元。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2532888" y="3438144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AI Agent · AI4S · 垂直智能体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007608" y="1664208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7FAFC"/>
          </a:solidFill>
          <a:ln w="1397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/home/biostar/work/projects/operator/docs/ppt/assets/wang-xiaogang.jpg"/>
          <p:cNvPicPr>
            <a:picLocks noChangeAspect="1"/>
          </p:cNvPicPr>
          <p:nvPr/>
        </p:nvPicPr>
        <p:blipFill>
          <a:blip r:embed="rId2"/>
          <a:srcRect l="9896" r="17448"/>
          <a:stretch>
            <a:fillRect/>
          </a:stretch>
        </p:blipFill>
        <p:spPr>
          <a:xfrm>
            <a:off x="6303322" y="1929240"/>
            <a:ext cx="1134003" cy="16704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5" name="Text 11"/>
          <p:cNvSpPr/>
          <p:nvPr/>
        </p:nvSpPr>
        <p:spPr>
          <a:xfrm>
            <a:off x="7790688" y="192024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王小刚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790688" y="22860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B16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博士 · 教授 · 硕士生导师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7790688" y="2670048"/>
            <a:ext cx="2578608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云计算和边缘智能系统；围绕分布式智能体资源调度、任务编排与协同执行机制开展研究。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7790688" y="3438144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Cloud AI · 分布式智能体 · 任务编排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749808" y="4315968"/>
            <a:ext cx="10149840" cy="1325880"/>
          </a:xfrm>
          <a:prstGeom prst="roundRect">
            <a:avLst>
              <a:gd name="adj" fmla="val 5517"/>
            </a:avLst>
          </a:prstGeom>
          <a:solidFill>
            <a:srgbClr val="0B1220"/>
          </a:solidFill>
          <a:ln w="12700">
            <a:solidFill>
              <a:srgbClr val="2142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1060704" y="464515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700" b="1" dirty="0">
                <a:solidFill>
                  <a:srgbClr val="1FD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项目组</a:t>
            </a:r>
            <a:r>
              <a:rPr lang="en-US" sz="1700" b="1" dirty="0" err="1">
                <a:solidFill>
                  <a:srgbClr val="1FD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学生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2816352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2990088" y="4709160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唐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2706624" y="519379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唐浩伦</a:t>
            </a:r>
            <a:endParaRPr lang="en-US" sz="1120" dirty="0"/>
          </a:p>
        </p:txBody>
      </p:sp>
      <p:sp>
        <p:nvSpPr>
          <p:cNvPr id="24" name="Shape 20"/>
          <p:cNvSpPr/>
          <p:nvPr/>
        </p:nvSpPr>
        <p:spPr>
          <a:xfrm>
            <a:off x="4297680" y="4553712"/>
            <a:ext cx="566928" cy="566928"/>
          </a:xfrm>
          <a:prstGeom prst="ellipse">
            <a:avLst/>
          </a:prstGeom>
          <a:solidFill>
            <a:srgbClr val="17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471416" y="4709160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詹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187952" y="519379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詹静怡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5779008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5952744" y="4709160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669280" y="519379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王琪盛</a:t>
            </a:r>
            <a:endParaRPr lang="en-US" sz="1120" dirty="0"/>
          </a:p>
        </p:txBody>
      </p:sp>
      <p:sp>
        <p:nvSpPr>
          <p:cNvPr id="30" name="Shape 26"/>
          <p:cNvSpPr/>
          <p:nvPr/>
        </p:nvSpPr>
        <p:spPr>
          <a:xfrm>
            <a:off x="7260336" y="4553712"/>
            <a:ext cx="566928" cy="566928"/>
          </a:xfrm>
          <a:prstGeom prst="ellipse">
            <a:avLst/>
          </a:prstGeom>
          <a:solidFill>
            <a:srgbClr val="17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7434072" y="4709160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谭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7150608" y="519379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谭茉曦</a:t>
            </a:r>
            <a:endParaRPr lang="en-US" sz="1120" dirty="0"/>
          </a:p>
        </p:txBody>
      </p:sp>
      <p:sp>
        <p:nvSpPr>
          <p:cNvPr id="33" name="Shape 29"/>
          <p:cNvSpPr/>
          <p:nvPr/>
        </p:nvSpPr>
        <p:spPr>
          <a:xfrm>
            <a:off x="8741664" y="4553712"/>
            <a:ext cx="566928" cy="566928"/>
          </a:xfrm>
          <a:prstGeom prst="ellipse">
            <a:avLst/>
          </a:prstGeom>
          <a:solidFill>
            <a:srgbClr val="1FD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8915400" y="4709160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陈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631936" y="519379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陈天乐</a:t>
            </a:r>
            <a:endParaRPr lang="en-US" sz="1120" dirty="0"/>
          </a:p>
        </p:txBody>
      </p:sp>
      <p:sp>
        <p:nvSpPr>
          <p:cNvPr id="36" name="Text 32"/>
          <p:cNvSpPr/>
          <p:nvPr/>
        </p:nvSpPr>
        <p:spPr>
          <a:xfrm>
            <a:off x="1078992" y="592531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参与智能体系统原型、工具调用流程、科研/论文材料处理、安全智能体、AI coding 小应用和体验设计。</a:t>
            </a:r>
            <a:endParaRPr lang="en-US" sz="1320" dirty="0"/>
          </a:p>
        </p:txBody>
      </p:sp>
      <p:sp>
        <p:nvSpPr>
          <p:cNvPr id="37" name="Text 33"/>
          <p:cNvSpPr/>
          <p:nvPr/>
        </p:nvSpPr>
        <p:spPr>
          <a:xfrm>
            <a:off x="8961120" y="635508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团队资料来源：agentslabs.org</a:t>
            </a:r>
            <a:endParaRPr lang="en-US" sz="880" dirty="0"/>
          </a:p>
        </p:txBody>
      </p:sp>
      <p:sp>
        <p:nvSpPr>
          <p:cNvPr id="38" name="Text 3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垂直案例</a:t>
            </a: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本科</a:t>
            </a:r>
            <a:r>
              <a:rPr lang="en-US" sz="3000" b="1" dirty="0" err="1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论文</a:t>
            </a:r>
            <a:r>
              <a:rPr lang="zh-CN" alt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审修</a:t>
            </a:r>
            <a:r>
              <a:rPr lang="en-US" sz="3000" b="1" dirty="0" err="1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智能体评估路径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从材料采集、试点审核、过程追踪到成效反馈，体现专业领域需要闭环质量数据。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91056"/>
            <a:ext cx="1077163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1430">
            <a:solidFill>
              <a:srgbClr val="17B7C8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projects/operator/docs/ppt/thesis_agent_evaluation_path_labeled_v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361" y="1691640"/>
            <a:ext cx="6103373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垂直案例：硬件设计工作流界面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以 MakerAI 的 3D 外壳设计为例，专业智能体必须连接参数、仿真、材料、制造和确认动作。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81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1430">
            <a:solidFill>
              <a:srgbClr val="F5A524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home/biostar/work/projects/operator/docs/ppt/06_详细设计_3D外壳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078" y="1673352"/>
            <a:ext cx="7285939" cy="4553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17B7C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53035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进展、路线图与商业模式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124712"/>
            <a:ext cx="786384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种子期目标：证明专业 skill 可以被稳定发现、执行、交付和复用。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50976" y="184708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      已完成 / 原型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2416" y="2377440"/>
            <a:ext cx="256032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前端任务工作台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Capability tags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Skill manifests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ACP runtime chain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Artifact manifest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446227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700016" y="184708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           内测中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91456" y="2377440"/>
            <a:ext cx="256032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PPT / HTML slides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科研 skill collection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CAD skill collection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法律与工业视觉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本地 Codex worker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8211312" y="1572768"/>
            <a:ext cx="3246120" cy="345643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49056" y="1847088"/>
            <a:ext cx="242316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      未来 90 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40496" y="2377440"/>
            <a:ext cx="2560320" cy="1737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GitHub 高星扫描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个人/全站推荐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Public beta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组织空间与权限</a:t>
            </a:r>
            <a:endParaRPr lang="en-US" sz="121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21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付费 skill 试点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713232" y="5497664"/>
            <a:ext cx="10771632" cy="841248"/>
          </a:xfrm>
          <a:prstGeom prst="rect">
            <a:avLst/>
          </a:prstGeom>
          <a:solidFill>
            <a:srgbClr val="EDF7F6"/>
          </a:solidFill>
          <a:ln w="12700">
            <a:solidFill>
              <a:srgbClr val="EDF7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57079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6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商业模式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993392" y="5714707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云端：</a:t>
            </a:r>
            <a:r>
              <a:rPr 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订阅 + </a:t>
            </a:r>
            <a:r>
              <a:rPr lang="zh-CN" alt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充值积分；本地端：</a:t>
            </a:r>
            <a:r>
              <a:rPr lang="en-US" altLang="zh-CN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FDE+</a:t>
            </a:r>
            <a:r>
              <a:rPr 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企业私有</a:t>
            </a:r>
            <a:r>
              <a:rPr lang="zh-CN" alt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部署</a:t>
            </a:r>
            <a:r>
              <a:rPr lang="en-US" sz="140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 xml:space="preserve"> </a:t>
            </a:r>
            <a:endParaRPr lang="en-US" sz="140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A899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6B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本轮诉求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49808" y="1408176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C8D7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 Operator 从开发内测推进到可持续的专业 Agent 平台。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786384" y="205740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" y="222199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FD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专业场景内测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2542032" y="220370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寻找 PPT/科研/教育/CAD/法律等真实任务用户，验证稳定交付和留存。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86384" y="30632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17B7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60704" y="3227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7B7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开源 Skill 合作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2542032" y="320954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接入高质量 GitHub skill，补充 adapter、runtime、smoke test 与产物契约。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86384" y="406908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101B2B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0704" y="42336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赛事与产业资源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2542032" y="421538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D7E4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需要创业大赛导师反馈、产业场景、算力/云资源与种子期合作机会。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64935" y="1609979"/>
            <a:ext cx="2148840" cy="391363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1FD6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702552" y="199339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1FD6A5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0" descr="/home/biostar/work/projects/operator/docs/ppt/assets/wechat-qr-cropp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36" y="2093976"/>
            <a:ext cx="1426464" cy="1426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39712" y="440740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陈智鹏</a:t>
            </a:r>
            <a:endParaRPr lang="zh-CN" altLang="en-US" sz="1500" b="1" dirty="0">
              <a:solidFill>
                <a:srgbClr val="10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93408" y="4773168"/>
            <a:ext cx="1627632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6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chenzhipeng@sdju.edu.cn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8979408" y="1609344"/>
            <a:ext cx="2148840" cy="391363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9235440" y="1993392"/>
            <a:ext cx="1627632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F5A524"/>
            </a:solidFill>
            <a:prstDash val="solid"/>
          </a:ln>
          <a:effectLst>
            <a:outerShdw blurRad="7620" dist="12700" dir="2700000" algn="bl" rotWithShape="0">
              <a:srgbClr val="8AA2B2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1" descr="/home/biostar/work/projects/operator/docs/ppt/assets/baozizhineng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2093976"/>
            <a:ext cx="1426464" cy="1426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363456" y="440740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算子</a:t>
            </a:r>
            <a:r>
              <a:rPr lang="en-US" altLang="zh-CN" sz="1500" b="1" dirty="0">
                <a:solidFill>
                  <a:srgbClr val="10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AI</a:t>
            </a:r>
            <a:endParaRPr lang="en-US" altLang="zh-CN" sz="1500" b="1" dirty="0">
              <a:solidFill>
                <a:srgbClr val="10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125712" y="4773168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B6B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http://www.suanziai.com/</a:t>
            </a:r>
            <a:endParaRPr lang="en-US" sz="960" b="1" dirty="0">
              <a:solidFill>
                <a:srgbClr val="0B6B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02920" y="6473952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D9E8E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Operator 算子 | Seed-stage startup competition deck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789920" y="6473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D6A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internal beta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2975</Words>
  <Application>WPS 演示</Application>
  <PresentationFormat>宽屏</PresentationFormat>
  <Paragraphs>323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Trebuchet MS</vt:lpstr>
      <vt:lpstr>Trebuchet MS</vt:lpstr>
      <vt:lpstr>Trebuchet MS</vt:lpstr>
      <vt:lpstr>Trebuchet MS</vt:lpstr>
      <vt:lpstr>微软雅黑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Operator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Seed Pitch Deck</dc:title>
  <dc:creator>Operator</dc:creator>
  <dc:subject>Seed-stage startup competition pitch deck</dc:subject>
  <cp:lastModifiedBy>见龙在田1368672843</cp:lastModifiedBy>
  <cp:revision>42</cp:revision>
  <dcterms:created xsi:type="dcterms:W3CDTF">2026-06-18T12:15:00Z</dcterms:created>
  <dcterms:modified xsi:type="dcterms:W3CDTF">2026-06-24T13:28:58Z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19C1F0CD332C4DAB9F0AF08EE8EBD97E_12</vt:lpwstr>
  </property>
  <property fmtid="{D5CDD505-2E9C-101B-9397-08002B2CF9AE}" pid="3" name="KSOProductBuildVer">
    <vt:lpwstr>2052-12.1.0.26895</vt:lpwstr>
  </property>
</Properties>
</file>